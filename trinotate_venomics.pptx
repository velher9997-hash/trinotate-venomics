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94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4" name="Text 2"/>
          <p:cNvSpPr/>
          <p:nvPr/>
        </p:nvSpPr>
        <p:spPr>
          <a:xfrm>
            <a:off x="78378" y="88513"/>
            <a:ext cx="66881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40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Minería del veneno de</a:t>
            </a:r>
            <a:endParaRPr lang="es-MX" sz="4000" noProof="0" dirty="0"/>
          </a:p>
          <a:p>
            <a:pPr marL="0" indent="0" algn="ctr">
              <a:buNone/>
            </a:pPr>
            <a:r>
              <a:rPr lang="es-MX" sz="4000" b="1" i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Cupiennius</a:t>
            </a:r>
            <a:r>
              <a:rPr lang="es-MX" sz="4000" b="1" i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chiapanensis</a:t>
            </a:r>
            <a:endParaRPr lang="es-MX" sz="4000" i="1" noProof="0" dirty="0"/>
          </a:p>
        </p:txBody>
      </p:sp>
      <p:sp>
        <p:nvSpPr>
          <p:cNvPr id="5" name="Text 3"/>
          <p:cNvSpPr/>
          <p:nvPr/>
        </p:nvSpPr>
        <p:spPr>
          <a:xfrm>
            <a:off x="517290" y="2157833"/>
            <a:ext cx="50344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MX" sz="1800" noProof="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y clasificación funcional del transcriptoma</a:t>
            </a:r>
            <a:endParaRPr lang="es-MX" sz="1800" noProof="0" dirty="0"/>
          </a:p>
          <a:p>
            <a:pPr marL="0" indent="0" algn="just">
              <a:buNone/>
            </a:pPr>
            <a:r>
              <a:rPr lang="es-MX" sz="1800" noProof="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s-MX" sz="1800" noProof="0" dirty="0" err="1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tidyverse</a:t>
            </a:r>
            <a:r>
              <a:rPr lang="es-MX" sz="1800" noProof="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aplicado a anotaciones con </a:t>
            </a:r>
            <a:r>
              <a:rPr lang="es-MX" sz="1800" noProof="0" dirty="0" err="1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Trinotate</a:t>
            </a:r>
            <a:endParaRPr lang="es-MX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1434302" y="3464923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0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casi M.C. José Daniel Velasco Hernández </a:t>
            </a:r>
          </a:p>
          <a:p>
            <a:pPr marL="0" indent="0" algn="ctr">
              <a:buNone/>
            </a:pPr>
            <a:r>
              <a:rPr lang="es-MX" sz="1300" dirty="0" err="1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Diego´s</a:t>
            </a:r>
            <a:r>
              <a:rPr lang="es-MX" sz="130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MX" sz="1300" dirty="0" err="1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r>
              <a:rPr lang="es-MX" sz="130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Seminario</a:t>
            </a:r>
            <a:r>
              <a:rPr lang="es-MX" sz="130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s-MX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1333717" y="3922123"/>
            <a:ext cx="3200400" cy="36576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s-MX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BC3CC4D-18B1-CC4F-6D85-1BED10E8B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531" y="1367353"/>
            <a:ext cx="3422469" cy="3801293"/>
          </a:xfrm>
          <a:prstGeom prst="rect">
            <a:avLst/>
          </a:prstGeom>
          <a:solidFill>
            <a:schemeClr val="accent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3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Biológico</a:t>
            </a:r>
            <a:endParaRPr lang="es-MX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768096"/>
            <a:ext cx="400507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550" b="1" i="1" noProof="0" dirty="0" err="1">
                <a:solidFill>
                  <a:srgbClr val="1E8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Cupiennius</a:t>
            </a:r>
            <a:r>
              <a:rPr lang="es-MX" sz="1550" b="1" i="1" noProof="0" dirty="0">
                <a:solidFill>
                  <a:srgbClr val="1E8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chiapanensis</a:t>
            </a:r>
            <a:endParaRPr lang="es-MX" sz="1550" i="1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657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</a:t>
            </a: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Trechaleidae</a:t>
            </a:r>
            <a:endParaRPr lang="es-MX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3657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Endémica de Chiapas, México</a:t>
            </a:r>
            <a:endParaRPr lang="es-MX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2276856"/>
            <a:ext cx="3657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Veneno con potencial farmacológico y ecológico</a:t>
            </a:r>
            <a:endParaRPr lang="es-MX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2752344"/>
            <a:ext cx="3657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Glándulas de veneno: fuente del transcriptoma</a:t>
            </a:r>
            <a:endParaRPr lang="es-MX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502920" y="3227832"/>
            <a:ext cx="3657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millones de </a:t>
            </a: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RNA-</a:t>
            </a: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</a:t>
            </a: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procesados</a:t>
            </a:r>
            <a:endParaRPr lang="es-MX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502920" y="3703320"/>
            <a:ext cx="3657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Anotación con </a:t>
            </a: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Trinotate</a:t>
            </a: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(BLASTX, BLASTP, </a:t>
            </a: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Pfam</a:t>
            </a: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SignalP</a:t>
            </a: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TmHMM</a:t>
            </a: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MX" sz="1250" noProof="0" dirty="0"/>
          </a:p>
        </p:txBody>
      </p:sp>
      <p:sp>
        <p:nvSpPr>
          <p:cNvPr id="12" name="Shape 10"/>
          <p:cNvSpPr/>
          <p:nvPr/>
        </p:nvSpPr>
        <p:spPr>
          <a:xfrm>
            <a:off x="4690872" y="768096"/>
            <a:ext cx="413308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3" name="Text 11"/>
          <p:cNvSpPr/>
          <p:nvPr/>
        </p:nvSpPr>
        <p:spPr>
          <a:xfrm>
            <a:off x="4828032" y="868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550" b="1" noProof="0" dirty="0">
                <a:solidFill>
                  <a:srgbClr val="1E8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 del veneno</a:t>
            </a:r>
            <a:endParaRPr lang="es-MX" sz="1550" noProof="0" dirty="0"/>
          </a:p>
        </p:txBody>
      </p:sp>
      <p:sp>
        <p:nvSpPr>
          <p:cNvPr id="14" name="Text 12"/>
          <p:cNvSpPr/>
          <p:nvPr/>
        </p:nvSpPr>
        <p:spPr>
          <a:xfrm>
            <a:off x="4828032" y="1325880"/>
            <a:ext cx="385876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b="1" noProof="0" dirty="0">
                <a:solidFill>
                  <a:srgbClr val="1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ICK / </a:t>
            </a:r>
            <a:r>
              <a:rPr lang="es-MX" sz="1250" b="1" noProof="0" dirty="0" err="1">
                <a:solidFill>
                  <a:srgbClr val="1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knottins</a:t>
            </a:r>
            <a:r>
              <a:rPr lang="es-MX" sz="1250" b="1" noProof="0" dirty="0">
                <a:solidFill>
                  <a:srgbClr val="1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s-MX" sz="11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Neurotoxinas inhibidoras de canales iónicos</a:t>
            </a:r>
            <a:endParaRPr lang="es-MX" sz="1250" noProof="0" dirty="0"/>
          </a:p>
        </p:txBody>
      </p:sp>
      <p:sp>
        <p:nvSpPr>
          <p:cNvPr id="15" name="Text 13"/>
          <p:cNvSpPr/>
          <p:nvPr/>
        </p:nvSpPr>
        <p:spPr>
          <a:xfrm>
            <a:off x="4818888" y="2512967"/>
            <a:ext cx="385876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b="1" noProof="0" dirty="0">
                <a:solidFill>
                  <a:srgbClr val="1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Proteasas  </a:t>
            </a:r>
            <a:r>
              <a:rPr lang="es-MX" sz="11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Serina-, </a:t>
            </a:r>
            <a:r>
              <a:rPr lang="es-MX" sz="115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metalo</a:t>
            </a:r>
            <a:r>
              <a:rPr lang="es-MX" sz="11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 cisteína-proteasas</a:t>
            </a:r>
            <a:endParaRPr lang="es-MX" sz="1250" noProof="0" dirty="0"/>
          </a:p>
        </p:txBody>
      </p:sp>
      <p:sp>
        <p:nvSpPr>
          <p:cNvPr id="16" name="Text 14"/>
          <p:cNvSpPr/>
          <p:nvPr/>
        </p:nvSpPr>
        <p:spPr>
          <a:xfrm>
            <a:off x="4828032" y="3003804"/>
            <a:ext cx="385876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b="1" noProof="0" dirty="0">
                <a:solidFill>
                  <a:srgbClr val="1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Fosfolipasas  </a:t>
            </a:r>
            <a:r>
              <a:rPr lang="es-MX" sz="11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PLA2 y PLC: acción sobre membranas</a:t>
            </a:r>
            <a:endParaRPr lang="es-MX" sz="1250" noProof="0" dirty="0"/>
          </a:p>
        </p:txBody>
      </p:sp>
      <p:sp>
        <p:nvSpPr>
          <p:cNvPr id="17" name="Text 15"/>
          <p:cNvSpPr/>
          <p:nvPr/>
        </p:nvSpPr>
        <p:spPr>
          <a:xfrm>
            <a:off x="4828032" y="3607308"/>
            <a:ext cx="385876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b="1" noProof="0" dirty="0">
                <a:solidFill>
                  <a:srgbClr val="1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 </a:t>
            </a:r>
            <a:r>
              <a:rPr lang="es-MX" sz="11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reguladoras de canales</a:t>
            </a:r>
            <a:endParaRPr lang="es-MX" sz="1250" noProof="0" dirty="0"/>
          </a:p>
        </p:txBody>
      </p:sp>
      <p:sp>
        <p:nvSpPr>
          <p:cNvPr id="19" name="Text 17"/>
          <p:cNvSpPr/>
          <p:nvPr/>
        </p:nvSpPr>
        <p:spPr>
          <a:xfrm>
            <a:off x="4828032" y="1883664"/>
            <a:ext cx="385876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b="1" noProof="0" dirty="0" err="1">
                <a:solidFill>
                  <a:srgbClr val="1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AMPs</a:t>
            </a:r>
            <a:r>
              <a:rPr lang="es-MX" sz="1250" b="1" noProof="0" dirty="0">
                <a:solidFill>
                  <a:srgbClr val="1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s-MX" sz="11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Péptidos antimicrobianos</a:t>
            </a:r>
            <a:endParaRPr lang="es-MX" sz="1250" noProof="0" dirty="0"/>
          </a:p>
        </p:txBody>
      </p:sp>
      <p:sp>
        <p:nvSpPr>
          <p:cNvPr id="20" name="Text 18"/>
          <p:cNvSpPr/>
          <p:nvPr/>
        </p:nvSpPr>
        <p:spPr>
          <a:xfrm>
            <a:off x="4828032" y="4178808"/>
            <a:ext cx="385876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b="1" noProof="0" dirty="0">
                <a:solidFill>
                  <a:srgbClr val="1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novedosas  </a:t>
            </a:r>
            <a:r>
              <a:rPr lang="es-MX" sz="11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homólogos en bases de datos</a:t>
            </a:r>
            <a:endParaRPr lang="es-MX" sz="12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3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de Entrada: Reporte </a:t>
            </a:r>
            <a:r>
              <a:rPr lang="es-MX" sz="22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Trinotate</a:t>
            </a:r>
            <a:endParaRPr lang="es-MX" sz="2200" noProof="0" dirty="0"/>
          </a:p>
        </p:txBody>
      </p:sp>
      <p:sp>
        <p:nvSpPr>
          <p:cNvPr id="4" name="Text 2"/>
          <p:cNvSpPr/>
          <p:nvPr/>
        </p:nvSpPr>
        <p:spPr>
          <a:xfrm>
            <a:off x="347472" y="749808"/>
            <a:ext cx="8449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de </a:t>
            </a: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Trinotate</a:t>
            </a: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CSV con una fila por transcrito y columnas de evidencia funcional de múltiples herramientas de anotación.</a:t>
            </a:r>
            <a:endParaRPr lang="es-MX" sz="1250" noProof="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2331720" cy="420624"/>
          </a:xfrm>
          <a:prstGeom prst="rect">
            <a:avLst/>
          </a:prstGeom>
          <a:solidFill>
            <a:srgbClr val="0F2330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429768" y="1335024"/>
            <a:ext cx="2203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</a:t>
            </a:r>
            <a:endParaRPr lang="es-MX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2679192" y="1261872"/>
            <a:ext cx="2240280" cy="420624"/>
          </a:xfrm>
          <a:prstGeom prst="rect">
            <a:avLst/>
          </a:prstGeom>
          <a:solidFill>
            <a:srgbClr val="0F2330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8" name="Text 6"/>
          <p:cNvSpPr/>
          <p:nvPr/>
        </p:nvSpPr>
        <p:spPr>
          <a:xfrm>
            <a:off x="2761488" y="1335024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s-MX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4919472" y="1261872"/>
            <a:ext cx="3877056" cy="420624"/>
          </a:xfrm>
          <a:prstGeom prst="rect">
            <a:avLst/>
          </a:prstGeom>
          <a:solidFill>
            <a:srgbClr val="0F2330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8"/>
          <p:cNvSpPr/>
          <p:nvPr/>
        </p:nvSpPr>
        <p:spPr>
          <a:xfrm>
            <a:off x="5001768" y="133502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s-MX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347472" y="1682496"/>
            <a:ext cx="2331720" cy="420624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429768" y="1755648"/>
            <a:ext cx="2203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 err="1">
                <a:solidFill>
                  <a:srgbClr val="1E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transcript_id</a:t>
            </a:r>
            <a:endParaRPr lang="es-MX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2679192" y="1682496"/>
            <a:ext cx="2240280" cy="420624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4" name="Text 12"/>
          <p:cNvSpPr/>
          <p:nvPr/>
        </p:nvSpPr>
        <p:spPr>
          <a:xfrm>
            <a:off x="2761488" y="1755648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</a:t>
            </a:r>
            <a:endParaRPr lang="es-MX" sz="1150" noProof="0" dirty="0"/>
          </a:p>
        </p:txBody>
      </p:sp>
      <p:sp>
        <p:nvSpPr>
          <p:cNvPr id="15" name="Shape 13"/>
          <p:cNvSpPr/>
          <p:nvPr/>
        </p:nvSpPr>
        <p:spPr>
          <a:xfrm>
            <a:off x="4919472" y="1682496"/>
            <a:ext cx="3877056" cy="420624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6" name="Text 14"/>
          <p:cNvSpPr/>
          <p:nvPr/>
        </p:nvSpPr>
        <p:spPr>
          <a:xfrm>
            <a:off x="5001768" y="17556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único del transcrito (TRINITY_DN...)</a:t>
            </a:r>
            <a:endParaRPr lang="es-MX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347472" y="2103120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Text 16"/>
          <p:cNvSpPr/>
          <p:nvPr/>
        </p:nvSpPr>
        <p:spPr>
          <a:xfrm>
            <a:off x="429768" y="2176272"/>
            <a:ext cx="2203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 err="1">
                <a:solidFill>
                  <a:srgbClr val="1E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sprot_Top_BLASTX_hit</a:t>
            </a:r>
            <a:endParaRPr lang="es-MX" sz="1150" noProof="0" dirty="0"/>
          </a:p>
        </p:txBody>
      </p:sp>
      <p:sp>
        <p:nvSpPr>
          <p:cNvPr id="19" name="Shape 17"/>
          <p:cNvSpPr/>
          <p:nvPr/>
        </p:nvSpPr>
        <p:spPr>
          <a:xfrm>
            <a:off x="2679192" y="2103120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0" name="Text 18"/>
          <p:cNvSpPr/>
          <p:nvPr/>
        </p:nvSpPr>
        <p:spPr>
          <a:xfrm>
            <a:off x="2761488" y="2176272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BLASTX vs </a:t>
            </a:r>
            <a:r>
              <a:rPr lang="es-MX" sz="11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SwissProt</a:t>
            </a:r>
            <a:endParaRPr lang="es-MX" sz="1150" noProof="0" dirty="0"/>
          </a:p>
        </p:txBody>
      </p:sp>
      <p:sp>
        <p:nvSpPr>
          <p:cNvPr id="21" name="Shape 19"/>
          <p:cNvSpPr/>
          <p:nvPr/>
        </p:nvSpPr>
        <p:spPr>
          <a:xfrm>
            <a:off x="4919472" y="2103120"/>
            <a:ext cx="38770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2" name="Text 20"/>
          <p:cNvSpPr/>
          <p:nvPr/>
        </p:nvSpPr>
        <p:spPr>
          <a:xfrm>
            <a:off x="5001768" y="217627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de proteína a nivel nucleotídico</a:t>
            </a:r>
            <a:endParaRPr lang="es-MX" sz="1150" noProof="0" dirty="0"/>
          </a:p>
        </p:txBody>
      </p:sp>
      <p:sp>
        <p:nvSpPr>
          <p:cNvPr id="23" name="Shape 21"/>
          <p:cNvSpPr/>
          <p:nvPr/>
        </p:nvSpPr>
        <p:spPr>
          <a:xfrm>
            <a:off x="347472" y="2523744"/>
            <a:ext cx="2331720" cy="420624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4" name="Text 22"/>
          <p:cNvSpPr/>
          <p:nvPr/>
        </p:nvSpPr>
        <p:spPr>
          <a:xfrm>
            <a:off x="429768" y="2596896"/>
            <a:ext cx="2203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 err="1">
                <a:solidFill>
                  <a:srgbClr val="1E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sprot_Top_BLASTP_hit</a:t>
            </a:r>
            <a:endParaRPr lang="es-MX" sz="1150" noProof="0" dirty="0"/>
          </a:p>
        </p:txBody>
      </p:sp>
      <p:sp>
        <p:nvSpPr>
          <p:cNvPr id="25" name="Shape 23"/>
          <p:cNvSpPr/>
          <p:nvPr/>
        </p:nvSpPr>
        <p:spPr>
          <a:xfrm>
            <a:off x="2679192" y="2523744"/>
            <a:ext cx="2240280" cy="420624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6" name="Text 24"/>
          <p:cNvSpPr/>
          <p:nvPr/>
        </p:nvSpPr>
        <p:spPr>
          <a:xfrm>
            <a:off x="2761488" y="2596896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BLASTP vs </a:t>
            </a:r>
            <a:r>
              <a:rPr lang="es-MX" sz="11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SwissProt</a:t>
            </a:r>
            <a:endParaRPr lang="es-MX" sz="1150" noProof="0" dirty="0"/>
          </a:p>
        </p:txBody>
      </p:sp>
      <p:sp>
        <p:nvSpPr>
          <p:cNvPr id="27" name="Shape 25"/>
          <p:cNvSpPr/>
          <p:nvPr/>
        </p:nvSpPr>
        <p:spPr>
          <a:xfrm>
            <a:off x="4919472" y="2523744"/>
            <a:ext cx="3877056" cy="420624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8" name="Text 26"/>
          <p:cNvSpPr/>
          <p:nvPr/>
        </p:nvSpPr>
        <p:spPr>
          <a:xfrm>
            <a:off x="5001768" y="259689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de proteína a nivel aminoacídico</a:t>
            </a:r>
            <a:endParaRPr lang="es-MX" sz="1150" noProof="0" dirty="0"/>
          </a:p>
        </p:txBody>
      </p:sp>
      <p:sp>
        <p:nvSpPr>
          <p:cNvPr id="29" name="Shape 27"/>
          <p:cNvSpPr/>
          <p:nvPr/>
        </p:nvSpPr>
        <p:spPr>
          <a:xfrm>
            <a:off x="347472" y="2944368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0" name="Text 28"/>
          <p:cNvSpPr/>
          <p:nvPr/>
        </p:nvSpPr>
        <p:spPr>
          <a:xfrm>
            <a:off x="429768" y="3017520"/>
            <a:ext cx="2203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 err="1">
                <a:solidFill>
                  <a:srgbClr val="1E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Pfam</a:t>
            </a:r>
            <a:endParaRPr lang="es-MX" sz="1150" noProof="0" dirty="0"/>
          </a:p>
        </p:txBody>
      </p:sp>
      <p:sp>
        <p:nvSpPr>
          <p:cNvPr id="31" name="Shape 29"/>
          <p:cNvSpPr/>
          <p:nvPr/>
        </p:nvSpPr>
        <p:spPr>
          <a:xfrm>
            <a:off x="2679192" y="2944368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2" name="Text 30"/>
          <p:cNvSpPr/>
          <p:nvPr/>
        </p:nvSpPr>
        <p:spPr>
          <a:xfrm>
            <a:off x="2761488" y="3017520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HMMER / </a:t>
            </a:r>
            <a:r>
              <a:rPr lang="es-MX" sz="11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Pfam</a:t>
            </a:r>
            <a:endParaRPr lang="es-MX" sz="1150" noProof="0" dirty="0"/>
          </a:p>
        </p:txBody>
      </p:sp>
      <p:sp>
        <p:nvSpPr>
          <p:cNvPr id="33" name="Shape 31"/>
          <p:cNvSpPr/>
          <p:nvPr/>
        </p:nvSpPr>
        <p:spPr>
          <a:xfrm>
            <a:off x="4919472" y="2944368"/>
            <a:ext cx="38770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4" name="Text 32"/>
          <p:cNvSpPr/>
          <p:nvPr/>
        </p:nvSpPr>
        <p:spPr>
          <a:xfrm>
            <a:off x="5001768" y="30175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 conservados de proteínas</a:t>
            </a:r>
            <a:endParaRPr lang="es-MX" sz="1150" noProof="0" dirty="0"/>
          </a:p>
        </p:txBody>
      </p:sp>
      <p:sp>
        <p:nvSpPr>
          <p:cNvPr id="35" name="Shape 33"/>
          <p:cNvSpPr/>
          <p:nvPr/>
        </p:nvSpPr>
        <p:spPr>
          <a:xfrm>
            <a:off x="347472" y="3364992"/>
            <a:ext cx="2331720" cy="420624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6" name="Text 34"/>
          <p:cNvSpPr/>
          <p:nvPr/>
        </p:nvSpPr>
        <p:spPr>
          <a:xfrm>
            <a:off x="429768" y="3438144"/>
            <a:ext cx="2203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 err="1">
                <a:solidFill>
                  <a:srgbClr val="1E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SignalP</a:t>
            </a:r>
            <a:endParaRPr lang="es-MX" sz="1150" noProof="0" dirty="0"/>
          </a:p>
        </p:txBody>
      </p:sp>
      <p:sp>
        <p:nvSpPr>
          <p:cNvPr id="37" name="Shape 35"/>
          <p:cNvSpPr/>
          <p:nvPr/>
        </p:nvSpPr>
        <p:spPr>
          <a:xfrm>
            <a:off x="2679192" y="3364992"/>
            <a:ext cx="2240280" cy="420624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8" name="Text 36"/>
          <p:cNvSpPr/>
          <p:nvPr/>
        </p:nvSpPr>
        <p:spPr>
          <a:xfrm>
            <a:off x="2761488" y="3438144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SignalP</a:t>
            </a:r>
            <a:r>
              <a:rPr lang="es-MX" sz="11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5.0</a:t>
            </a:r>
            <a:endParaRPr lang="es-MX" sz="1150" noProof="0" dirty="0"/>
          </a:p>
        </p:txBody>
      </p:sp>
      <p:sp>
        <p:nvSpPr>
          <p:cNvPr id="39" name="Shape 37"/>
          <p:cNvSpPr/>
          <p:nvPr/>
        </p:nvSpPr>
        <p:spPr>
          <a:xfrm>
            <a:off x="4919472" y="3364992"/>
            <a:ext cx="3877056" cy="420624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0" name="Text 38"/>
          <p:cNvSpPr/>
          <p:nvPr/>
        </p:nvSpPr>
        <p:spPr>
          <a:xfrm>
            <a:off x="5001768" y="34381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péptido señal</a:t>
            </a:r>
            <a:endParaRPr lang="es-MX" sz="1150" noProof="0" dirty="0"/>
          </a:p>
        </p:txBody>
      </p:sp>
      <p:sp>
        <p:nvSpPr>
          <p:cNvPr id="41" name="Shape 39"/>
          <p:cNvSpPr/>
          <p:nvPr/>
        </p:nvSpPr>
        <p:spPr>
          <a:xfrm>
            <a:off x="347472" y="3785616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2" name="Text 40"/>
          <p:cNvSpPr/>
          <p:nvPr/>
        </p:nvSpPr>
        <p:spPr>
          <a:xfrm>
            <a:off x="429768" y="3858768"/>
            <a:ext cx="2203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 err="1">
                <a:solidFill>
                  <a:srgbClr val="1E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TmHMM</a:t>
            </a:r>
            <a:endParaRPr lang="es-MX" sz="1150" noProof="0" dirty="0"/>
          </a:p>
        </p:txBody>
      </p:sp>
      <p:sp>
        <p:nvSpPr>
          <p:cNvPr id="43" name="Shape 41"/>
          <p:cNvSpPr/>
          <p:nvPr/>
        </p:nvSpPr>
        <p:spPr>
          <a:xfrm>
            <a:off x="2679192" y="3785616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4" name="Text 42"/>
          <p:cNvSpPr/>
          <p:nvPr/>
        </p:nvSpPr>
        <p:spPr>
          <a:xfrm>
            <a:off x="2761488" y="3858768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TMHMM 2.0</a:t>
            </a:r>
            <a:endParaRPr lang="es-MX" sz="1150" noProof="0" dirty="0"/>
          </a:p>
        </p:txBody>
      </p:sp>
      <p:sp>
        <p:nvSpPr>
          <p:cNvPr id="45" name="Shape 43"/>
          <p:cNvSpPr/>
          <p:nvPr/>
        </p:nvSpPr>
        <p:spPr>
          <a:xfrm>
            <a:off x="4919472" y="3785616"/>
            <a:ext cx="38770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6" name="Text 44"/>
          <p:cNvSpPr/>
          <p:nvPr/>
        </p:nvSpPr>
        <p:spPr>
          <a:xfrm>
            <a:off x="5001768" y="38587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hélices transmembrana</a:t>
            </a:r>
            <a:endParaRPr lang="es-MX" sz="1150" noProof="0" dirty="0"/>
          </a:p>
        </p:txBody>
      </p:sp>
      <p:sp>
        <p:nvSpPr>
          <p:cNvPr id="47" name="Shape 45"/>
          <p:cNvSpPr/>
          <p:nvPr/>
        </p:nvSpPr>
        <p:spPr>
          <a:xfrm>
            <a:off x="347472" y="4206240"/>
            <a:ext cx="2331720" cy="420624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8" name="Text 46"/>
          <p:cNvSpPr/>
          <p:nvPr/>
        </p:nvSpPr>
        <p:spPr>
          <a:xfrm>
            <a:off x="429768" y="4279392"/>
            <a:ext cx="2203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 err="1">
                <a:solidFill>
                  <a:srgbClr val="1E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eggnog</a:t>
            </a:r>
            <a:endParaRPr lang="es-MX" sz="1150" noProof="0" dirty="0"/>
          </a:p>
        </p:txBody>
      </p:sp>
      <p:sp>
        <p:nvSpPr>
          <p:cNvPr id="49" name="Shape 47"/>
          <p:cNvSpPr/>
          <p:nvPr/>
        </p:nvSpPr>
        <p:spPr>
          <a:xfrm>
            <a:off x="2679192" y="4206240"/>
            <a:ext cx="2240280" cy="420624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0" name="Text 48"/>
          <p:cNvSpPr/>
          <p:nvPr/>
        </p:nvSpPr>
        <p:spPr>
          <a:xfrm>
            <a:off x="2761488" y="4279392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EggNOG-mapper</a:t>
            </a:r>
            <a:endParaRPr lang="es-MX" sz="1150" noProof="0" dirty="0"/>
          </a:p>
        </p:txBody>
      </p:sp>
      <p:sp>
        <p:nvSpPr>
          <p:cNvPr id="51" name="Shape 49"/>
          <p:cNvSpPr/>
          <p:nvPr/>
        </p:nvSpPr>
        <p:spPr>
          <a:xfrm>
            <a:off x="4919472" y="4206240"/>
            <a:ext cx="3877056" cy="420624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2" name="Text 50"/>
          <p:cNvSpPr/>
          <p:nvPr/>
        </p:nvSpPr>
        <p:spPr>
          <a:xfrm>
            <a:off x="5001768" y="42793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ortológica y descripción funcional</a:t>
            </a:r>
            <a:endParaRPr lang="es-MX" sz="1150" noProof="0" dirty="0"/>
          </a:p>
        </p:txBody>
      </p:sp>
      <p:sp>
        <p:nvSpPr>
          <p:cNvPr id="53" name="Text 51"/>
          <p:cNvSpPr/>
          <p:nvPr/>
        </p:nvSpPr>
        <p:spPr>
          <a:xfrm>
            <a:off x="347472" y="4718304"/>
            <a:ext cx="8449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8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"." = ausencia de anotación para ese transcrito en esa columna.</a:t>
            </a:r>
            <a:endParaRPr lang="es-MX" sz="10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3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Carga de Paquetes y Preparación de Datos</a:t>
            </a:r>
            <a:endParaRPr lang="es-MX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768096"/>
            <a:ext cx="5074920" cy="4224528"/>
          </a:xfrm>
          <a:prstGeom prst="rect">
            <a:avLst/>
          </a:prstGeom>
          <a:solidFill>
            <a:srgbClr val="0D1B26"/>
          </a:solidFill>
          <a:ln w="12700">
            <a:solidFill>
              <a:srgbClr val="136B7A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/>
          <p:nvPr/>
        </p:nvSpPr>
        <p:spPr>
          <a:xfrm>
            <a:off x="448056" y="868680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Paquetes ─────────────────────────────</a:t>
            </a:r>
            <a:endParaRPr lang="es-MX" sz="920" noProof="0" dirty="0"/>
          </a:p>
        </p:txBody>
      </p:sp>
      <p:sp>
        <p:nvSpPr>
          <p:cNvPr id="6" name="Text 4"/>
          <p:cNvSpPr/>
          <p:nvPr/>
        </p:nvSpPr>
        <p:spPr>
          <a:xfrm>
            <a:off x="448056" y="1046988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tidyverse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s-MX" sz="920" noProof="0" dirty="0"/>
          </a:p>
        </p:txBody>
      </p:sp>
      <p:sp>
        <p:nvSpPr>
          <p:cNvPr id="7" name="Text 5"/>
          <p:cNvSpPr/>
          <p:nvPr/>
        </p:nvSpPr>
        <p:spPr>
          <a:xfrm>
            <a:off x="448056" y="1225296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readr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s-MX" sz="920" noProof="0" dirty="0"/>
          </a:p>
        </p:txBody>
      </p:sp>
      <p:sp>
        <p:nvSpPr>
          <p:cNvPr id="8" name="Text 6"/>
          <p:cNvSpPr/>
          <p:nvPr/>
        </p:nvSpPr>
        <p:spPr>
          <a:xfrm>
            <a:off x="448056" y="1403604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dplyr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s-MX" sz="920" noProof="0" dirty="0"/>
          </a:p>
        </p:txBody>
      </p:sp>
      <p:sp>
        <p:nvSpPr>
          <p:cNvPr id="9" name="Text 7"/>
          <p:cNvSpPr/>
          <p:nvPr/>
        </p:nvSpPr>
        <p:spPr>
          <a:xfrm>
            <a:off x="448056" y="1581912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stringr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s-MX" sz="920" noProof="0" dirty="0"/>
          </a:p>
        </p:txBody>
      </p:sp>
      <p:sp>
        <p:nvSpPr>
          <p:cNvPr id="10" name="Text 8"/>
          <p:cNvSpPr/>
          <p:nvPr/>
        </p:nvSpPr>
        <p:spPr>
          <a:xfrm>
            <a:off x="448056" y="1760220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11" name="Text 9"/>
          <p:cNvSpPr/>
          <p:nvPr/>
        </p:nvSpPr>
        <p:spPr>
          <a:xfrm>
            <a:off x="448056" y="1938528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Lectura del CSV ────────────────────────</a:t>
            </a:r>
            <a:endParaRPr lang="es-MX" sz="920" noProof="0" dirty="0"/>
          </a:p>
        </p:txBody>
      </p:sp>
      <p:sp>
        <p:nvSpPr>
          <p:cNvPr id="12" name="Text 10"/>
          <p:cNvSpPr/>
          <p:nvPr/>
        </p:nvSpPr>
        <p:spPr>
          <a:xfrm>
            <a:off x="448056" y="2116836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trinotate_report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s-MX" sz="920" noProof="0" dirty="0"/>
          </a:p>
        </p:txBody>
      </p:sp>
      <p:sp>
        <p:nvSpPr>
          <p:cNvPr id="13" name="Text 11"/>
          <p:cNvSpPr/>
          <p:nvPr/>
        </p:nvSpPr>
        <p:spPr>
          <a:xfrm>
            <a:off x="448056" y="2295144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"trinotate_annotation_report.csv",</a:t>
            </a:r>
            <a:endParaRPr lang="es-MX" sz="920" noProof="0" dirty="0"/>
          </a:p>
        </p:txBody>
      </p:sp>
      <p:sp>
        <p:nvSpPr>
          <p:cNvPr id="14" name="Text 12"/>
          <p:cNvSpPr/>
          <p:nvPr/>
        </p:nvSpPr>
        <p:spPr>
          <a:xfrm>
            <a:off x="448056" y="2473452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c(".", "", "NA"))</a:t>
            </a:r>
            <a:endParaRPr lang="es-MX" sz="920" noProof="0" dirty="0"/>
          </a:p>
        </p:txBody>
      </p:sp>
      <p:sp>
        <p:nvSpPr>
          <p:cNvPr id="15" name="Text 13"/>
          <p:cNvSpPr/>
          <p:nvPr/>
        </p:nvSpPr>
        <p:spPr>
          <a:xfrm>
            <a:off x="448056" y="2651760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16" name="Text 14"/>
          <p:cNvSpPr/>
          <p:nvPr/>
        </p:nvSpPr>
        <p:spPr>
          <a:xfrm>
            <a:off x="448056" y="2830068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Variables para nombres de columna ──────</a:t>
            </a:r>
            <a:endParaRPr lang="es-MX" sz="920" noProof="0" dirty="0"/>
          </a:p>
        </p:txBody>
      </p:sp>
      <p:sp>
        <p:nvSpPr>
          <p:cNvPr id="17" name="Text 15"/>
          <p:cNvSpPr/>
          <p:nvPr/>
        </p:nvSpPr>
        <p:spPr>
          <a:xfrm>
            <a:off x="448056" y="3008376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col_transcrit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"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transcript_id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s-MX" sz="920" noProof="0" dirty="0"/>
          </a:p>
        </p:txBody>
      </p:sp>
      <p:sp>
        <p:nvSpPr>
          <p:cNvPr id="18" name="Text 16"/>
          <p:cNvSpPr/>
          <p:nvPr/>
        </p:nvSpPr>
        <p:spPr>
          <a:xfrm>
            <a:off x="448056" y="3186684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col_signalp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&lt;- "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SignalP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s-MX" sz="920" noProof="0" dirty="0"/>
          </a:p>
        </p:txBody>
      </p:sp>
      <p:sp>
        <p:nvSpPr>
          <p:cNvPr id="19" name="Text 17"/>
          <p:cNvSpPr/>
          <p:nvPr/>
        </p:nvSpPr>
        <p:spPr>
          <a:xfrm>
            <a:off x="448056" y="3364992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col_tmhmm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&lt;- "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TmHMM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s-MX" sz="920" noProof="0" dirty="0"/>
          </a:p>
        </p:txBody>
      </p:sp>
      <p:sp>
        <p:nvSpPr>
          <p:cNvPr id="20" name="Text 18"/>
          <p:cNvSpPr/>
          <p:nvPr/>
        </p:nvSpPr>
        <p:spPr>
          <a:xfrm>
            <a:off x="448056" y="3543300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col_blastx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&lt;- "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sprot_Top_BLASTX_hit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s-MX" sz="920" noProof="0" dirty="0"/>
          </a:p>
        </p:txBody>
      </p:sp>
      <p:sp>
        <p:nvSpPr>
          <p:cNvPr id="21" name="Text 19"/>
          <p:cNvSpPr/>
          <p:nvPr/>
        </p:nvSpPr>
        <p:spPr>
          <a:xfrm>
            <a:off x="448056" y="3721608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col_blastp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&lt;- "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sprot_Top_BLASTP_hit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s-MX" sz="920" noProof="0" dirty="0"/>
          </a:p>
        </p:txBody>
      </p:sp>
      <p:sp>
        <p:nvSpPr>
          <p:cNvPr id="22" name="Text 20"/>
          <p:cNvSpPr/>
          <p:nvPr/>
        </p:nvSpPr>
        <p:spPr>
          <a:xfrm>
            <a:off x="448056" y="3899916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col_pfam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&lt;- "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Pfam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s-MX" sz="920" noProof="0" dirty="0"/>
          </a:p>
        </p:txBody>
      </p:sp>
      <p:sp>
        <p:nvSpPr>
          <p:cNvPr id="23" name="Text 21"/>
          <p:cNvSpPr/>
          <p:nvPr/>
        </p:nvSpPr>
        <p:spPr>
          <a:xfrm>
            <a:off x="448056" y="4078224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col_eggnog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&lt;- "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eggnog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s-MX" sz="920" noProof="0" dirty="0"/>
          </a:p>
        </p:txBody>
      </p:sp>
      <p:sp>
        <p:nvSpPr>
          <p:cNvPr id="24" name="Shape 22"/>
          <p:cNvSpPr/>
          <p:nvPr/>
        </p:nvSpPr>
        <p:spPr>
          <a:xfrm>
            <a:off x="5532120" y="768096"/>
            <a:ext cx="3291840" cy="804672"/>
          </a:xfrm>
          <a:prstGeom prst="rect">
            <a:avLst/>
          </a:prstGeom>
          <a:solidFill>
            <a:srgbClr val="FFF8E1"/>
          </a:solidFill>
          <a:ln w="12700">
            <a:solidFill>
              <a:srgbClr val="E8C67A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5" name="Text 23"/>
          <p:cNvSpPr/>
          <p:nvPr/>
        </p:nvSpPr>
        <p:spPr>
          <a:xfrm>
            <a:off x="5623560" y="832104"/>
            <a:ext cx="312724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 err="1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tidyverse</a:t>
            </a: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carga </a:t>
            </a:r>
            <a:r>
              <a:rPr lang="es-MX" sz="1050" noProof="0" dirty="0" err="1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</a:t>
            </a: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s-MX" sz="1050" noProof="0" dirty="0"/>
          </a:p>
          <a:p>
            <a:pPr marL="0" indent="0">
              <a:buNone/>
            </a:pPr>
            <a:r>
              <a:rPr lang="es-MX" sz="1050" noProof="0" dirty="0" err="1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stringr</a:t>
            </a: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MX" sz="1050" noProof="0" dirty="0" err="1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readr</a:t>
            </a: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más</a:t>
            </a:r>
            <a:endParaRPr lang="es-MX" sz="1050" noProof="0" dirty="0"/>
          </a:p>
          <a:p>
            <a:pPr marL="0" indent="0">
              <a:buNone/>
            </a:pP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solo comando.</a:t>
            </a:r>
            <a:endParaRPr lang="es-MX" sz="1050" noProof="0" dirty="0"/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94C4A1B4-5199-F09E-B7B6-68B5A4729644}"/>
              </a:ext>
            </a:extLst>
          </p:cNvPr>
          <p:cNvGrpSpPr/>
          <p:nvPr/>
        </p:nvGrpSpPr>
        <p:grpSpPr>
          <a:xfrm>
            <a:off x="5541264" y="2103120"/>
            <a:ext cx="3291840" cy="841248"/>
            <a:chOff x="5532120" y="1682496"/>
            <a:chExt cx="3291840" cy="841248"/>
          </a:xfrm>
        </p:grpSpPr>
        <p:sp>
          <p:nvSpPr>
            <p:cNvPr id="26" name="Shape 24"/>
            <p:cNvSpPr/>
            <p:nvPr/>
          </p:nvSpPr>
          <p:spPr>
            <a:xfrm>
              <a:off x="5532120" y="1682496"/>
              <a:ext cx="3291840" cy="841248"/>
            </a:xfrm>
            <a:prstGeom prst="rect">
              <a:avLst/>
            </a:prstGeom>
            <a:solidFill>
              <a:srgbClr val="FFF8E1"/>
            </a:solidFill>
            <a:ln w="12700">
              <a:solidFill>
                <a:srgbClr val="E8C67A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623560" y="1746504"/>
              <a:ext cx="3127248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s-MX" sz="1050" noProof="0" dirty="0" err="1">
                  <a:solidFill>
                    <a:srgbClr val="6B5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</a:t>
              </a:r>
              <a:r>
                <a:rPr lang="es-MX" sz="1050" noProof="0" dirty="0">
                  <a:solidFill>
                    <a:srgbClr val="6B5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= c(".","","NA")</a:t>
              </a:r>
              <a:endParaRPr lang="es-MX" sz="1050" noProof="0" dirty="0"/>
            </a:p>
            <a:p>
              <a:pPr marL="0" indent="0">
                <a:buNone/>
              </a:pPr>
              <a:r>
                <a:rPr lang="es-MX" sz="1050" noProof="0" dirty="0">
                  <a:solidFill>
                    <a:srgbClr val="6B5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convierte los puntos</a:t>
              </a:r>
              <a:endParaRPr lang="es-MX" sz="1050" noProof="0" dirty="0"/>
            </a:p>
            <a:p>
              <a:pPr marL="0" indent="0">
                <a:buNone/>
              </a:pPr>
              <a:r>
                <a:rPr lang="es-MX" sz="1050" noProof="0" dirty="0">
                  <a:solidFill>
                    <a:srgbClr val="6B5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NA automáticamente.</a:t>
              </a:r>
              <a:endParaRPr lang="es-MX" sz="1050" noProof="0" dirty="0"/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95E666EE-7F7A-7C55-FF9F-4A77D3D838D2}"/>
              </a:ext>
            </a:extLst>
          </p:cNvPr>
          <p:cNvGrpSpPr/>
          <p:nvPr/>
        </p:nvGrpSpPr>
        <p:grpSpPr>
          <a:xfrm>
            <a:off x="5541264" y="3545913"/>
            <a:ext cx="3291840" cy="1097280"/>
            <a:chOff x="5532120" y="2633472"/>
            <a:chExt cx="3291840" cy="1097280"/>
          </a:xfrm>
        </p:grpSpPr>
        <p:sp>
          <p:nvSpPr>
            <p:cNvPr id="28" name="Shape 26"/>
            <p:cNvSpPr/>
            <p:nvPr/>
          </p:nvSpPr>
          <p:spPr>
            <a:xfrm>
              <a:off x="5532120" y="2633472"/>
              <a:ext cx="3291840" cy="1097280"/>
            </a:xfrm>
            <a:prstGeom prst="rect">
              <a:avLst/>
            </a:prstGeom>
            <a:solidFill>
              <a:srgbClr val="FFF8E1"/>
            </a:solidFill>
            <a:ln w="12700">
              <a:solidFill>
                <a:srgbClr val="E8C67A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623560" y="2697480"/>
              <a:ext cx="3127248" cy="9875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s-MX" sz="1050" noProof="0" dirty="0">
                  <a:solidFill>
                    <a:srgbClr val="6B5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Variables de columna:</a:t>
              </a:r>
              <a:endParaRPr lang="es-MX" sz="1050" noProof="0" dirty="0"/>
            </a:p>
            <a:p>
              <a:pPr marL="0" indent="0">
                <a:buNone/>
              </a:pPr>
              <a:r>
                <a:rPr lang="es-MX" sz="1050" noProof="0" dirty="0">
                  <a:solidFill>
                    <a:srgbClr val="6B5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evitan errores de tipeo</a:t>
              </a:r>
              <a:endParaRPr lang="es-MX" sz="1050" noProof="0" dirty="0"/>
            </a:p>
            <a:p>
              <a:pPr marL="0" indent="0">
                <a:buNone/>
              </a:pPr>
              <a:r>
                <a:rPr lang="es-MX" sz="1050" noProof="0" dirty="0">
                  <a:solidFill>
                    <a:srgbClr val="6B5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 permiten refactorizar</a:t>
              </a:r>
              <a:endParaRPr lang="es-MX" sz="1050" noProof="0" dirty="0"/>
            </a:p>
            <a:p>
              <a:pPr marL="0" indent="0">
                <a:buNone/>
              </a:pPr>
              <a:r>
                <a:rPr lang="es-MX" sz="1050" noProof="0" dirty="0">
                  <a:solidFill>
                    <a:srgbClr val="6B5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 código fácilmente.</a:t>
              </a:r>
              <a:endParaRPr lang="es-MX" sz="1050" noProof="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3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Firmas de Toxinas: Diseño de Expresiones Regulares</a:t>
            </a:r>
            <a:endParaRPr lang="es-MX" sz="2200" noProof="0" dirty="0"/>
          </a:p>
        </p:txBody>
      </p:sp>
      <p:sp>
        <p:nvSpPr>
          <p:cNvPr id="4" name="Text 2"/>
          <p:cNvSpPr/>
          <p:nvPr/>
        </p:nvSpPr>
        <p:spPr>
          <a:xfrm>
            <a:off x="347472" y="749808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familia de toxinas se define como un patrón </a:t>
            </a:r>
            <a:r>
              <a:rPr lang="es-MX" sz="120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r>
              <a:rPr lang="es-MX" sz="120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la cadena de evidencia (BLASTX + BLASTP + </a:t>
            </a:r>
            <a:r>
              <a:rPr lang="es-MX" sz="120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Pfam</a:t>
            </a:r>
            <a:r>
              <a:rPr lang="es-MX" sz="120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MX" sz="120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eggnog</a:t>
            </a:r>
            <a:r>
              <a:rPr lang="es-MX" sz="120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concatenados).</a:t>
            </a:r>
            <a:endParaRPr lang="es-MX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074920" cy="3749040"/>
          </a:xfrm>
          <a:prstGeom prst="rect">
            <a:avLst/>
          </a:prstGeom>
          <a:solidFill>
            <a:srgbClr val="0D1B26"/>
          </a:solidFill>
          <a:ln w="12700">
            <a:solidFill>
              <a:srgbClr val="136B7A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448056" y="1289304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Neurotoxinas ICK /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knottin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─────────────────</a:t>
            </a:r>
            <a:endParaRPr lang="es-MX" sz="920" noProof="0" dirty="0"/>
          </a:p>
        </p:txBody>
      </p:sp>
      <p:sp>
        <p:nvSpPr>
          <p:cNvPr id="7" name="Text 5"/>
          <p:cNvSpPr/>
          <p:nvPr/>
        </p:nvSpPr>
        <p:spPr>
          <a:xfrm>
            <a:off x="448056" y="1467612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regex_ick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"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inhibitor.cystine|ICK|knottin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s-MX" sz="920" noProof="0" dirty="0"/>
          </a:p>
        </p:txBody>
      </p:sp>
      <p:sp>
        <p:nvSpPr>
          <p:cNvPr id="8" name="Text 6"/>
          <p:cNvSpPr/>
          <p:nvPr/>
        </p:nvSpPr>
        <p:spPr>
          <a:xfrm>
            <a:off x="448056" y="1645920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omega.conotoxin|huwentoxin|HWTX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s-MX" sz="920" noProof="0" dirty="0"/>
          </a:p>
        </p:txBody>
      </p:sp>
      <p:sp>
        <p:nvSpPr>
          <p:cNvPr id="9" name="Text 7"/>
          <p:cNvSpPr/>
          <p:nvPr/>
        </p:nvSpPr>
        <p:spPr>
          <a:xfrm>
            <a:off x="448056" y="1824228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10" name="Text 8"/>
          <p:cNvSpPr/>
          <p:nvPr/>
        </p:nvSpPr>
        <p:spPr>
          <a:xfrm>
            <a:off x="448056" y="2002536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Inhibidores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Kunitz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──────────────────────────</a:t>
            </a:r>
            <a:endParaRPr lang="es-MX" sz="920" noProof="0" dirty="0"/>
          </a:p>
        </p:txBody>
      </p:sp>
      <p:sp>
        <p:nvSpPr>
          <p:cNvPr id="11" name="Text 9"/>
          <p:cNvSpPr/>
          <p:nvPr/>
        </p:nvSpPr>
        <p:spPr>
          <a:xfrm>
            <a:off x="448056" y="2180844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regex_kunitz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"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kunitz|BPTI|dendrotoxin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s-MX" sz="920" noProof="0" dirty="0"/>
          </a:p>
        </p:txBody>
      </p:sp>
      <p:sp>
        <p:nvSpPr>
          <p:cNvPr id="12" name="Text 10"/>
          <p:cNvSpPr/>
          <p:nvPr/>
        </p:nvSpPr>
        <p:spPr>
          <a:xfrm>
            <a:off x="448056" y="2359152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13" name="Text 11"/>
          <p:cNvSpPr/>
          <p:nvPr/>
        </p:nvSpPr>
        <p:spPr>
          <a:xfrm>
            <a:off x="448056" y="2537460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Fosfolipasas ────────────────────────────────</a:t>
            </a:r>
            <a:endParaRPr lang="es-MX" sz="920" noProof="0" dirty="0"/>
          </a:p>
        </p:txBody>
      </p:sp>
      <p:sp>
        <p:nvSpPr>
          <p:cNvPr id="14" name="Text 12"/>
          <p:cNvSpPr/>
          <p:nvPr/>
        </p:nvSpPr>
        <p:spPr>
          <a:xfrm>
            <a:off x="448056" y="2715768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regex_phospholipase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"phospholipase|PLA2"</a:t>
            </a:r>
            <a:endParaRPr lang="es-MX" sz="920" noProof="0" dirty="0"/>
          </a:p>
        </p:txBody>
      </p:sp>
      <p:sp>
        <p:nvSpPr>
          <p:cNvPr id="15" name="Text 13"/>
          <p:cNvSpPr/>
          <p:nvPr/>
        </p:nvSpPr>
        <p:spPr>
          <a:xfrm>
            <a:off x="448056" y="2894076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16" name="Text 14"/>
          <p:cNvSpPr/>
          <p:nvPr/>
        </p:nvSpPr>
        <p:spPr>
          <a:xfrm>
            <a:off x="448056" y="3072384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Proteasas ───────────────────────────────────</a:t>
            </a:r>
            <a:endParaRPr lang="es-MX" sz="920" noProof="0" dirty="0"/>
          </a:p>
        </p:txBody>
      </p:sp>
      <p:sp>
        <p:nvSpPr>
          <p:cNvPr id="17" name="Text 15"/>
          <p:cNvSpPr/>
          <p:nvPr/>
        </p:nvSpPr>
        <p:spPr>
          <a:xfrm>
            <a:off x="448056" y="3250692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regex_protease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"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metalloprot|serine.prot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s-MX" sz="920" noProof="0" dirty="0"/>
          </a:p>
        </p:txBody>
      </p:sp>
      <p:sp>
        <p:nvSpPr>
          <p:cNvPr id="18" name="Text 16"/>
          <p:cNvSpPr/>
          <p:nvPr/>
        </p:nvSpPr>
        <p:spPr>
          <a:xfrm>
            <a:off x="448056" y="3429000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cysteine.prot|astacin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s-MX" sz="920" noProof="0" dirty="0"/>
          </a:p>
        </p:txBody>
      </p:sp>
      <p:sp>
        <p:nvSpPr>
          <p:cNvPr id="19" name="Text 17"/>
          <p:cNvSpPr/>
          <p:nvPr/>
        </p:nvSpPr>
        <p:spPr>
          <a:xfrm>
            <a:off x="448056" y="3607308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20" name="Text 18"/>
          <p:cNvSpPr/>
          <p:nvPr/>
        </p:nvSpPr>
        <p:spPr>
          <a:xfrm>
            <a:off x="448056" y="3785616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global de todos los patrones ──────────</a:t>
            </a:r>
            <a:endParaRPr lang="es-MX" sz="920" noProof="0" dirty="0"/>
          </a:p>
        </p:txBody>
      </p:sp>
      <p:sp>
        <p:nvSpPr>
          <p:cNvPr id="21" name="Text 19"/>
          <p:cNvSpPr/>
          <p:nvPr/>
        </p:nvSpPr>
        <p:spPr>
          <a:xfrm>
            <a:off x="448056" y="3963924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all_toxin_regex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paste(</a:t>
            </a:r>
            <a:endParaRPr lang="es-MX" sz="920" noProof="0" dirty="0"/>
          </a:p>
        </p:txBody>
      </p:sp>
      <p:sp>
        <p:nvSpPr>
          <p:cNvPr id="22" name="Text 20"/>
          <p:cNvSpPr/>
          <p:nvPr/>
        </p:nvSpPr>
        <p:spPr>
          <a:xfrm>
            <a:off x="448056" y="4142232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regex_ick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regex_kunitz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s-MX" sz="920" noProof="0" dirty="0"/>
          </a:p>
        </p:txBody>
      </p:sp>
      <p:sp>
        <p:nvSpPr>
          <p:cNvPr id="23" name="Text 21"/>
          <p:cNvSpPr/>
          <p:nvPr/>
        </p:nvSpPr>
        <p:spPr>
          <a:xfrm>
            <a:off x="448056" y="4320540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regex_phospholipase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regex_protease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s-MX" sz="920" noProof="0" dirty="0"/>
          </a:p>
        </p:txBody>
      </p:sp>
      <p:sp>
        <p:nvSpPr>
          <p:cNvPr id="24" name="Text 22"/>
          <p:cNvSpPr/>
          <p:nvPr/>
        </p:nvSpPr>
        <p:spPr>
          <a:xfrm>
            <a:off x="448056" y="4498848"/>
            <a:ext cx="4873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"|")</a:t>
            </a:r>
            <a:endParaRPr lang="es-MX" sz="920" noProof="0" dirty="0"/>
          </a:p>
        </p:txBody>
      </p:sp>
      <p:sp>
        <p:nvSpPr>
          <p:cNvPr id="25" name="Text 23"/>
          <p:cNvSpPr/>
          <p:nvPr/>
        </p:nvSpPr>
        <p:spPr>
          <a:xfrm>
            <a:off x="5577840" y="11887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b="1" noProof="0" dirty="0">
                <a:solidFill>
                  <a:srgbClr val="13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Familias cubiertas</a:t>
            </a:r>
            <a:endParaRPr lang="es-MX" sz="1300" noProof="0" dirty="0"/>
          </a:p>
        </p:txBody>
      </p:sp>
      <p:sp>
        <p:nvSpPr>
          <p:cNvPr id="26" name="Shape 24"/>
          <p:cNvSpPr/>
          <p:nvPr/>
        </p:nvSpPr>
        <p:spPr>
          <a:xfrm>
            <a:off x="5577840" y="1572768"/>
            <a:ext cx="3246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7" name="Text 25"/>
          <p:cNvSpPr/>
          <p:nvPr/>
        </p:nvSpPr>
        <p:spPr>
          <a:xfrm>
            <a:off x="5650992" y="16002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ICK / </a:t>
            </a:r>
            <a:r>
              <a:rPr lang="es-MX" sz="1100" b="1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knottin</a:t>
            </a:r>
            <a:r>
              <a:rPr lang="es-MX" sz="1100" b="1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s-MX" sz="950" noProof="0" dirty="0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ICK · </a:t>
            </a:r>
            <a:r>
              <a:rPr lang="es-MX" sz="950" noProof="0" dirty="0" err="1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knottin</a:t>
            </a:r>
            <a:r>
              <a:rPr lang="es-MX" sz="950" noProof="0" dirty="0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HWTX</a:t>
            </a:r>
            <a:endParaRPr lang="es-MX" sz="1100" noProof="0" dirty="0"/>
          </a:p>
        </p:txBody>
      </p:sp>
      <p:sp>
        <p:nvSpPr>
          <p:cNvPr id="28" name="Shape 26"/>
          <p:cNvSpPr/>
          <p:nvPr/>
        </p:nvSpPr>
        <p:spPr>
          <a:xfrm>
            <a:off x="5577840" y="1988820"/>
            <a:ext cx="3246120" cy="402336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9" name="Text 27"/>
          <p:cNvSpPr/>
          <p:nvPr/>
        </p:nvSpPr>
        <p:spPr>
          <a:xfrm>
            <a:off x="5650992" y="201625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Kunitz</a:t>
            </a:r>
            <a:r>
              <a:rPr lang="es-MX" sz="1100" b="1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s-MX" sz="950" noProof="0" dirty="0" err="1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kunitz</a:t>
            </a:r>
            <a:r>
              <a:rPr lang="es-MX" sz="950" noProof="0" dirty="0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BPTI · </a:t>
            </a:r>
            <a:r>
              <a:rPr lang="es-MX" sz="950" noProof="0" dirty="0" err="1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dendrotox</a:t>
            </a:r>
            <a:endParaRPr lang="es-MX" sz="1100" noProof="0" dirty="0"/>
          </a:p>
        </p:txBody>
      </p:sp>
      <p:sp>
        <p:nvSpPr>
          <p:cNvPr id="30" name="Shape 28"/>
          <p:cNvSpPr/>
          <p:nvPr/>
        </p:nvSpPr>
        <p:spPr>
          <a:xfrm>
            <a:off x="5577840" y="2404872"/>
            <a:ext cx="3246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1" name="Text 29"/>
          <p:cNvSpPr/>
          <p:nvPr/>
        </p:nvSpPr>
        <p:spPr>
          <a:xfrm>
            <a:off x="5650992" y="243230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Fosfolipasa  </a:t>
            </a:r>
            <a:r>
              <a:rPr lang="es-MX" sz="950" noProof="0" dirty="0" err="1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phospholipase</a:t>
            </a:r>
            <a:r>
              <a:rPr lang="es-MX" sz="950" noProof="0" dirty="0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PLA2</a:t>
            </a:r>
            <a:endParaRPr lang="es-MX" sz="1100" noProof="0" dirty="0"/>
          </a:p>
        </p:txBody>
      </p:sp>
      <p:sp>
        <p:nvSpPr>
          <p:cNvPr id="32" name="Shape 30"/>
          <p:cNvSpPr/>
          <p:nvPr/>
        </p:nvSpPr>
        <p:spPr>
          <a:xfrm>
            <a:off x="5577840" y="2820924"/>
            <a:ext cx="3246120" cy="402336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3" name="Text 31"/>
          <p:cNvSpPr/>
          <p:nvPr/>
        </p:nvSpPr>
        <p:spPr>
          <a:xfrm>
            <a:off x="5650992" y="284835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Proteasa  </a:t>
            </a:r>
            <a:r>
              <a:rPr lang="es-MX" sz="950" noProof="0" dirty="0" err="1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metalloprot</a:t>
            </a:r>
            <a:r>
              <a:rPr lang="es-MX" sz="950" noProof="0" dirty="0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r>
              <a:rPr lang="es-MX" sz="950" noProof="0" dirty="0" err="1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serine.prot</a:t>
            </a:r>
            <a:endParaRPr lang="es-MX" sz="1100" noProof="0" dirty="0"/>
          </a:p>
        </p:txBody>
      </p:sp>
      <p:sp>
        <p:nvSpPr>
          <p:cNvPr id="34" name="Shape 32"/>
          <p:cNvSpPr/>
          <p:nvPr/>
        </p:nvSpPr>
        <p:spPr>
          <a:xfrm>
            <a:off x="5577840" y="3236976"/>
            <a:ext cx="3246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5" name="Text 33"/>
          <p:cNvSpPr/>
          <p:nvPr/>
        </p:nvSpPr>
        <p:spPr>
          <a:xfrm>
            <a:off x="5650992" y="326440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 </a:t>
            </a:r>
            <a:r>
              <a:rPr lang="es-MX" sz="950" noProof="0" dirty="0" err="1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CRISP</a:t>
            </a:r>
            <a:r>
              <a:rPr lang="es-MX" sz="950" noProof="0" dirty="0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CAP </a:t>
            </a:r>
            <a:r>
              <a:rPr lang="es-MX" sz="950" noProof="0" dirty="0" err="1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endParaRPr lang="es-MX" sz="1100" noProof="0" dirty="0"/>
          </a:p>
        </p:txBody>
      </p:sp>
      <p:sp>
        <p:nvSpPr>
          <p:cNvPr id="36" name="Shape 34"/>
          <p:cNvSpPr/>
          <p:nvPr/>
        </p:nvSpPr>
        <p:spPr>
          <a:xfrm>
            <a:off x="5577840" y="3653028"/>
            <a:ext cx="3246120" cy="402336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7" name="Text 35"/>
          <p:cNvSpPr/>
          <p:nvPr/>
        </p:nvSpPr>
        <p:spPr>
          <a:xfrm>
            <a:off x="5650992" y="36804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Latrotoxina</a:t>
            </a:r>
            <a:r>
              <a:rPr lang="es-MX" sz="1100" b="1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s-MX" sz="950" noProof="0" dirty="0" err="1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latrotoxin</a:t>
            </a:r>
            <a:r>
              <a:rPr lang="es-MX" sz="950" noProof="0" dirty="0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r>
              <a:rPr lang="es-MX" sz="950" noProof="0" dirty="0" err="1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alpha-latro</a:t>
            </a:r>
            <a:endParaRPr lang="es-MX" sz="1100" noProof="0" dirty="0"/>
          </a:p>
        </p:txBody>
      </p:sp>
      <p:sp>
        <p:nvSpPr>
          <p:cNvPr id="38" name="Shape 36"/>
          <p:cNvSpPr/>
          <p:nvPr/>
        </p:nvSpPr>
        <p:spPr>
          <a:xfrm>
            <a:off x="5577840" y="4069080"/>
            <a:ext cx="3246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9" name="Text 37"/>
          <p:cNvSpPr/>
          <p:nvPr/>
        </p:nvSpPr>
        <p:spPr>
          <a:xfrm>
            <a:off x="5650992" y="409651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(rescate)  </a:t>
            </a:r>
            <a:r>
              <a:rPr lang="es-MX" sz="950" noProof="0" dirty="0" err="1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defensin</a:t>
            </a:r>
            <a:r>
              <a:rPr lang="es-MX" sz="950" noProof="0" dirty="0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r>
              <a:rPr lang="es-MX" sz="950" noProof="0" dirty="0" err="1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antimicrobial</a:t>
            </a:r>
            <a:endParaRPr lang="es-MX" sz="1100" noProof="0" dirty="0"/>
          </a:p>
        </p:txBody>
      </p:sp>
      <p:sp>
        <p:nvSpPr>
          <p:cNvPr id="40" name="Shape 38"/>
          <p:cNvSpPr/>
          <p:nvPr/>
        </p:nvSpPr>
        <p:spPr>
          <a:xfrm>
            <a:off x="5577840" y="4485132"/>
            <a:ext cx="3246120" cy="402336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1" name="Text 39"/>
          <p:cNvSpPr/>
          <p:nvPr/>
        </p:nvSpPr>
        <p:spPr>
          <a:xfrm>
            <a:off x="5650992" y="451256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Hialuronidasa  </a:t>
            </a:r>
            <a:r>
              <a:rPr lang="es-MX" sz="950" noProof="0" dirty="0" err="1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hyaluronidase</a:t>
            </a:r>
            <a:r>
              <a:rPr lang="es-MX" sz="950" noProof="0" dirty="0">
                <a:solidFill>
                  <a:srgbClr val="5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PH-20</a:t>
            </a:r>
            <a:endParaRPr lang="es-MX" sz="1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82880"/>
            <a:ext cx="8449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1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del Pipeline de Clasificación del </a:t>
            </a:r>
            <a:r>
              <a:rPr lang="es-MX" sz="21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Venoma</a:t>
            </a:r>
            <a:endParaRPr lang="es-MX" sz="2100" noProof="0" dirty="0"/>
          </a:p>
        </p:txBody>
      </p:sp>
      <p:sp>
        <p:nvSpPr>
          <p:cNvPr id="3" name="Shape 1"/>
          <p:cNvSpPr/>
          <p:nvPr/>
        </p:nvSpPr>
        <p:spPr>
          <a:xfrm>
            <a:off x="201168" y="914400"/>
            <a:ext cx="1572768" cy="2468880"/>
          </a:xfrm>
          <a:prstGeom prst="roundRect">
            <a:avLst>
              <a:gd name="adj" fmla="val 5814"/>
            </a:avLst>
          </a:prstGeom>
          <a:solidFill>
            <a:srgbClr val="1A3A4A"/>
          </a:solidFill>
          <a:ln w="12700">
            <a:solidFill>
              <a:srgbClr val="A8D8DF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" name="Text 2"/>
          <p:cNvSpPr/>
          <p:nvPr/>
        </p:nvSpPr>
        <p:spPr>
          <a:xfrm>
            <a:off x="265176" y="1097280"/>
            <a:ext cx="1444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</a:t>
            </a:r>
            <a:endParaRPr lang="es-MX" sz="1300" noProof="0" dirty="0"/>
          </a:p>
          <a:p>
            <a:pPr marL="0" indent="0" algn="ctr">
              <a:buNone/>
            </a:pPr>
            <a:r>
              <a:rPr lang="es-MX" sz="13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Trinotate</a:t>
            </a:r>
            <a:endParaRPr lang="es-MX" sz="1300" noProof="0" dirty="0"/>
          </a:p>
          <a:p>
            <a:pPr marL="0" indent="0" algn="ctr">
              <a:buNone/>
            </a:pPr>
            <a:r>
              <a:rPr lang="es-MX" sz="13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(CSV completo)</a:t>
            </a:r>
            <a:endParaRPr lang="es-MX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329184" y="2194560"/>
            <a:ext cx="1316736" cy="27432"/>
          </a:xfrm>
          <a:prstGeom prst="rect">
            <a:avLst/>
          </a:prstGeom>
          <a:solidFill>
            <a:srgbClr val="A8D8DF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265176" y="2304288"/>
            <a:ext cx="14447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</a:t>
            </a:r>
            <a:endParaRPr lang="es-MX" sz="1050" noProof="0" dirty="0"/>
          </a:p>
          <a:p>
            <a:pPr marL="0" indent="0" algn="ctr">
              <a:buNone/>
            </a:pPr>
            <a:r>
              <a:rPr lang="es-MX" sz="105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transcritos</a:t>
            </a:r>
            <a:endParaRPr lang="es-MX" sz="1050" noProof="0" dirty="0"/>
          </a:p>
        </p:txBody>
      </p:sp>
      <p:sp>
        <p:nvSpPr>
          <p:cNvPr id="7" name="Shape 5"/>
          <p:cNvSpPr/>
          <p:nvPr/>
        </p:nvSpPr>
        <p:spPr>
          <a:xfrm>
            <a:off x="1792224" y="2121408"/>
            <a:ext cx="164592" cy="54864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8" name="Shape 6"/>
          <p:cNvSpPr/>
          <p:nvPr/>
        </p:nvSpPr>
        <p:spPr>
          <a:xfrm rot="5400000">
            <a:off x="1929384" y="2057400"/>
            <a:ext cx="82296" cy="182880"/>
          </a:xfrm>
          <a:prstGeom prst="rtTriangle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9" name="Shape 7"/>
          <p:cNvSpPr/>
          <p:nvPr/>
        </p:nvSpPr>
        <p:spPr>
          <a:xfrm>
            <a:off x="2048256" y="914400"/>
            <a:ext cx="1572768" cy="2468880"/>
          </a:xfrm>
          <a:prstGeom prst="roundRect">
            <a:avLst>
              <a:gd name="adj" fmla="val 5814"/>
            </a:avLst>
          </a:prstGeom>
          <a:solidFill>
            <a:srgbClr val="163A4A"/>
          </a:solidFill>
          <a:ln w="12700">
            <a:solidFill>
              <a:srgbClr val="1E8FA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8"/>
          <p:cNvSpPr/>
          <p:nvPr/>
        </p:nvSpPr>
        <p:spPr>
          <a:xfrm>
            <a:off x="2112264" y="1097280"/>
            <a:ext cx="1444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Secretoma</a:t>
            </a:r>
            <a:endParaRPr lang="es-MX" sz="1300" noProof="0" dirty="0"/>
          </a:p>
          <a:p>
            <a:pPr marL="0" indent="0" algn="ctr">
              <a:buNone/>
            </a:pPr>
            <a:r>
              <a:rPr lang="es-MX" sz="13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Clásico</a:t>
            </a:r>
            <a:endParaRPr lang="es-MX" sz="1300" noProof="0" dirty="0"/>
          </a:p>
        </p:txBody>
      </p:sp>
      <p:sp>
        <p:nvSpPr>
          <p:cNvPr id="11" name="Shape 9"/>
          <p:cNvSpPr/>
          <p:nvPr/>
        </p:nvSpPr>
        <p:spPr>
          <a:xfrm>
            <a:off x="2176272" y="2194560"/>
            <a:ext cx="1316736" cy="27432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2112264" y="2304288"/>
            <a:ext cx="14447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 err="1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SignalP</a:t>
            </a:r>
            <a:endParaRPr lang="es-MX" sz="1050" noProof="0" dirty="0"/>
          </a:p>
          <a:p>
            <a:pPr marL="0" indent="0" algn="ctr">
              <a:buNone/>
            </a:pPr>
            <a:r>
              <a:rPr lang="es-MX" sz="1050" noProof="0" dirty="0" err="1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PredHel</a:t>
            </a:r>
            <a:r>
              <a:rPr lang="es-MX" sz="105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</a:t>
            </a:r>
            <a:endParaRPr lang="es-MX" sz="1050" noProof="0" dirty="0"/>
          </a:p>
        </p:txBody>
      </p:sp>
      <p:sp>
        <p:nvSpPr>
          <p:cNvPr id="13" name="Shape 11"/>
          <p:cNvSpPr/>
          <p:nvPr/>
        </p:nvSpPr>
        <p:spPr>
          <a:xfrm>
            <a:off x="3639312" y="2121408"/>
            <a:ext cx="164592" cy="54864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4" name="Shape 12"/>
          <p:cNvSpPr/>
          <p:nvPr/>
        </p:nvSpPr>
        <p:spPr>
          <a:xfrm rot="5400000">
            <a:off x="3776472" y="2057400"/>
            <a:ext cx="82296" cy="182880"/>
          </a:xfrm>
          <a:prstGeom prst="rtTriangle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5" name="Shape 13"/>
          <p:cNvSpPr/>
          <p:nvPr/>
        </p:nvSpPr>
        <p:spPr>
          <a:xfrm>
            <a:off x="3895344" y="914400"/>
            <a:ext cx="1572768" cy="2468880"/>
          </a:xfrm>
          <a:prstGeom prst="roundRect">
            <a:avLst>
              <a:gd name="adj" fmla="val 5814"/>
            </a:avLst>
          </a:prstGeom>
          <a:solidFill>
            <a:srgbClr val="0D2E3C"/>
          </a:solidFill>
          <a:ln w="12700">
            <a:solidFill>
              <a:srgbClr val="2DB3C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6" name="Text 14"/>
          <p:cNvSpPr/>
          <p:nvPr/>
        </p:nvSpPr>
        <p:spPr>
          <a:xfrm>
            <a:off x="3959352" y="1097280"/>
            <a:ext cx="1444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Clasificación</a:t>
            </a:r>
            <a:endParaRPr lang="es-MX" sz="1300" noProof="0" dirty="0"/>
          </a:p>
          <a:p>
            <a:pPr marL="0" indent="0" algn="ctr">
              <a:buNone/>
            </a:pPr>
            <a:r>
              <a:rPr lang="es-MX" sz="13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Toxinas</a:t>
            </a:r>
            <a:endParaRPr lang="es-MX" sz="1300" noProof="0" dirty="0"/>
          </a:p>
        </p:txBody>
      </p:sp>
      <p:sp>
        <p:nvSpPr>
          <p:cNvPr id="17" name="Shape 15"/>
          <p:cNvSpPr/>
          <p:nvPr/>
        </p:nvSpPr>
        <p:spPr>
          <a:xfrm>
            <a:off x="4023360" y="2194560"/>
            <a:ext cx="1316736" cy="27432"/>
          </a:xfrm>
          <a:prstGeom prst="rect">
            <a:avLst/>
          </a:prstGeom>
          <a:solidFill>
            <a:srgbClr val="2DB3C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Text 16"/>
          <p:cNvSpPr/>
          <p:nvPr/>
        </p:nvSpPr>
        <p:spPr>
          <a:xfrm>
            <a:off x="3959352" y="2304288"/>
            <a:ext cx="14447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 err="1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case_when</a:t>
            </a:r>
            <a:r>
              <a:rPr lang="es-MX" sz="105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s-MX" sz="1050" noProof="0" dirty="0"/>
          </a:p>
          <a:p>
            <a:pPr marL="0" indent="0" algn="ctr">
              <a:buNone/>
            </a:pPr>
            <a:r>
              <a:rPr lang="es-MX" sz="105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s-MX" sz="1050" noProof="0" dirty="0" err="1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s-MX" sz="1050" noProof="0" dirty="0"/>
          </a:p>
        </p:txBody>
      </p:sp>
      <p:sp>
        <p:nvSpPr>
          <p:cNvPr id="19" name="Shape 17"/>
          <p:cNvSpPr/>
          <p:nvPr/>
        </p:nvSpPr>
        <p:spPr>
          <a:xfrm>
            <a:off x="5486400" y="2121408"/>
            <a:ext cx="164592" cy="54864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0" name="Shape 18"/>
          <p:cNvSpPr/>
          <p:nvPr/>
        </p:nvSpPr>
        <p:spPr>
          <a:xfrm rot="5400000">
            <a:off x="5623560" y="2057400"/>
            <a:ext cx="82296" cy="182880"/>
          </a:xfrm>
          <a:prstGeom prst="rtTriangle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1" name="Shape 19"/>
          <p:cNvSpPr/>
          <p:nvPr/>
        </p:nvSpPr>
        <p:spPr>
          <a:xfrm>
            <a:off x="5742432" y="914400"/>
            <a:ext cx="1572768" cy="2468880"/>
          </a:xfrm>
          <a:prstGeom prst="roundRect">
            <a:avLst>
              <a:gd name="adj" fmla="val 5814"/>
            </a:avLst>
          </a:prstGeom>
          <a:solidFill>
            <a:srgbClr val="163A4A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2" name="Text 20"/>
          <p:cNvSpPr/>
          <p:nvPr/>
        </p:nvSpPr>
        <p:spPr>
          <a:xfrm>
            <a:off x="5806440" y="1097280"/>
            <a:ext cx="1444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Rescate</a:t>
            </a:r>
            <a:endParaRPr lang="es-MX" sz="1300" noProof="0" dirty="0"/>
          </a:p>
          <a:p>
            <a:pPr marL="0" indent="0" algn="ctr">
              <a:buNone/>
            </a:pPr>
            <a:r>
              <a:rPr lang="es-MX" sz="13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</a:t>
            </a:r>
            <a:r>
              <a:rPr lang="es-MX" sz="13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AMPs</a:t>
            </a:r>
            <a:endParaRPr lang="es-MX" sz="1300" noProof="0" dirty="0"/>
          </a:p>
        </p:txBody>
      </p:sp>
      <p:sp>
        <p:nvSpPr>
          <p:cNvPr id="23" name="Shape 21"/>
          <p:cNvSpPr/>
          <p:nvPr/>
        </p:nvSpPr>
        <p:spPr>
          <a:xfrm>
            <a:off x="5870448" y="2194560"/>
            <a:ext cx="1316736" cy="27432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4" name="Text 22"/>
          <p:cNvSpPr/>
          <p:nvPr/>
        </p:nvSpPr>
        <p:spPr>
          <a:xfrm>
            <a:off x="5806440" y="2304288"/>
            <a:ext cx="14447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</a:t>
            </a:r>
            <a:r>
              <a:rPr lang="es-MX" sz="1050" noProof="0" dirty="0" err="1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secretoma</a:t>
            </a:r>
            <a:endParaRPr lang="es-MX" sz="1050" noProof="0" dirty="0"/>
          </a:p>
          <a:p>
            <a:pPr marL="0" indent="0" algn="ctr">
              <a:buNone/>
            </a:pPr>
            <a:r>
              <a:rPr lang="es-MX" sz="105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s-MX" sz="1050" noProof="0" dirty="0" err="1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regex_amp</a:t>
            </a:r>
            <a:endParaRPr lang="es-MX" sz="1050" noProof="0" dirty="0"/>
          </a:p>
        </p:txBody>
      </p:sp>
      <p:sp>
        <p:nvSpPr>
          <p:cNvPr id="25" name="Shape 23"/>
          <p:cNvSpPr/>
          <p:nvPr/>
        </p:nvSpPr>
        <p:spPr>
          <a:xfrm>
            <a:off x="7333488" y="2121408"/>
            <a:ext cx="164592" cy="54864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6" name="Shape 24"/>
          <p:cNvSpPr/>
          <p:nvPr/>
        </p:nvSpPr>
        <p:spPr>
          <a:xfrm rot="5400000">
            <a:off x="7470648" y="2057400"/>
            <a:ext cx="82296" cy="182880"/>
          </a:xfrm>
          <a:prstGeom prst="rtTriangle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7" name="Shape 25"/>
          <p:cNvSpPr/>
          <p:nvPr/>
        </p:nvSpPr>
        <p:spPr>
          <a:xfrm>
            <a:off x="7589520" y="914400"/>
            <a:ext cx="1572768" cy="2468880"/>
          </a:xfrm>
          <a:prstGeom prst="roundRect">
            <a:avLst>
              <a:gd name="adj" fmla="val 5814"/>
            </a:avLst>
          </a:prstGeom>
          <a:solidFill>
            <a:srgbClr val="1A3A4A"/>
          </a:solidFill>
          <a:ln w="12700">
            <a:solidFill>
              <a:srgbClr val="4FC47A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8" name="Text 26"/>
          <p:cNvSpPr/>
          <p:nvPr/>
        </p:nvSpPr>
        <p:spPr>
          <a:xfrm>
            <a:off x="7653528" y="1097280"/>
            <a:ext cx="1444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Venoma</a:t>
            </a:r>
            <a:endParaRPr lang="es-MX" sz="1300" noProof="0" dirty="0"/>
          </a:p>
          <a:p>
            <a:pPr marL="0" indent="0" algn="ctr">
              <a:buNone/>
            </a:pPr>
            <a:r>
              <a:rPr lang="es-MX" sz="13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Completo</a:t>
            </a:r>
            <a:endParaRPr lang="es-MX" sz="1300" noProof="0" dirty="0"/>
          </a:p>
        </p:txBody>
      </p:sp>
      <p:sp>
        <p:nvSpPr>
          <p:cNvPr id="29" name="Shape 27"/>
          <p:cNvSpPr/>
          <p:nvPr/>
        </p:nvSpPr>
        <p:spPr>
          <a:xfrm>
            <a:off x="7717536" y="2194560"/>
            <a:ext cx="1316736" cy="27432"/>
          </a:xfrm>
          <a:prstGeom prst="rect">
            <a:avLst/>
          </a:prstGeom>
          <a:solidFill>
            <a:srgbClr val="4FC47A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0" name="Text 28"/>
          <p:cNvSpPr/>
          <p:nvPr/>
        </p:nvSpPr>
        <p:spPr>
          <a:xfrm>
            <a:off x="7653528" y="2304288"/>
            <a:ext cx="14447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 err="1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bind_rows</a:t>
            </a:r>
            <a:r>
              <a:rPr lang="es-MX" sz="105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s-MX" sz="1050" noProof="0" dirty="0"/>
          </a:p>
          <a:p>
            <a:pPr marL="0" indent="0" algn="ctr">
              <a:buNone/>
            </a:pPr>
            <a:r>
              <a:rPr lang="es-MX" sz="105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+resumen</a:t>
            </a:r>
            <a:endParaRPr lang="es-MX" sz="1050" noProof="0" dirty="0"/>
          </a:p>
        </p:txBody>
      </p:sp>
      <p:sp>
        <p:nvSpPr>
          <p:cNvPr id="31" name="Shape 29"/>
          <p:cNvSpPr/>
          <p:nvPr/>
        </p:nvSpPr>
        <p:spPr>
          <a:xfrm>
            <a:off x="347472" y="3639312"/>
            <a:ext cx="182880" cy="182880"/>
          </a:xfrm>
          <a:prstGeom prst="rect">
            <a:avLst/>
          </a:prstGeom>
          <a:solidFill>
            <a:srgbClr val="A8D8DF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2" name="Text 30"/>
          <p:cNvSpPr/>
          <p:nvPr/>
        </p:nvSpPr>
        <p:spPr>
          <a:xfrm>
            <a:off x="576072" y="362102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completa</a:t>
            </a:r>
            <a:endParaRPr lang="es-MX" sz="1050" noProof="0" dirty="0"/>
          </a:p>
        </p:txBody>
      </p:sp>
      <p:sp>
        <p:nvSpPr>
          <p:cNvPr id="33" name="Shape 31"/>
          <p:cNvSpPr/>
          <p:nvPr/>
        </p:nvSpPr>
        <p:spPr>
          <a:xfrm>
            <a:off x="2112264" y="3639312"/>
            <a:ext cx="182880" cy="182880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4" name="Text 32"/>
          <p:cNvSpPr/>
          <p:nvPr/>
        </p:nvSpPr>
        <p:spPr>
          <a:xfrm>
            <a:off x="2340864" y="362102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</a:t>
            </a:r>
            <a:r>
              <a:rPr lang="es-MX" sz="1050" noProof="0" dirty="0" err="1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SignalP</a:t>
            </a:r>
            <a:r>
              <a:rPr lang="es-MX" sz="105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MX" sz="1050" noProof="0" dirty="0" err="1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TmHMM</a:t>
            </a:r>
            <a:endParaRPr lang="es-MX" sz="1050" noProof="0" dirty="0"/>
          </a:p>
        </p:txBody>
      </p:sp>
      <p:sp>
        <p:nvSpPr>
          <p:cNvPr id="35" name="Shape 33"/>
          <p:cNvSpPr/>
          <p:nvPr/>
        </p:nvSpPr>
        <p:spPr>
          <a:xfrm>
            <a:off x="3877056" y="3639312"/>
            <a:ext cx="182880" cy="182880"/>
          </a:xfrm>
          <a:prstGeom prst="rect">
            <a:avLst/>
          </a:prstGeom>
          <a:solidFill>
            <a:srgbClr val="2DB3C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6" name="Text 34"/>
          <p:cNvSpPr/>
          <p:nvPr/>
        </p:nvSpPr>
        <p:spPr>
          <a:xfrm>
            <a:off x="4105656" y="362102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</a:t>
            </a:r>
            <a:r>
              <a:rPr lang="es-MX" sz="1050" noProof="0" dirty="0" err="1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s-MX" sz="1050" noProof="0" dirty="0"/>
          </a:p>
        </p:txBody>
      </p:sp>
      <p:sp>
        <p:nvSpPr>
          <p:cNvPr id="37" name="Shape 35"/>
          <p:cNvSpPr/>
          <p:nvPr/>
        </p:nvSpPr>
        <p:spPr>
          <a:xfrm>
            <a:off x="5641848" y="3639312"/>
            <a:ext cx="182880" cy="182880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8" name="Text 36"/>
          <p:cNvSpPr/>
          <p:nvPr/>
        </p:nvSpPr>
        <p:spPr>
          <a:xfrm>
            <a:off x="5870448" y="362102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Rescate no clásico</a:t>
            </a:r>
            <a:endParaRPr lang="es-MX" sz="1050" noProof="0" dirty="0"/>
          </a:p>
        </p:txBody>
      </p:sp>
      <p:sp>
        <p:nvSpPr>
          <p:cNvPr id="39" name="Shape 37"/>
          <p:cNvSpPr/>
          <p:nvPr/>
        </p:nvSpPr>
        <p:spPr>
          <a:xfrm>
            <a:off x="7406640" y="3639312"/>
            <a:ext cx="182880" cy="182880"/>
          </a:xfrm>
          <a:prstGeom prst="rect">
            <a:avLst/>
          </a:prstGeom>
          <a:solidFill>
            <a:srgbClr val="4FC47A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40" name="Text 38"/>
          <p:cNvSpPr/>
          <p:nvPr/>
        </p:nvSpPr>
        <p:spPr>
          <a:xfrm>
            <a:off x="7635240" y="362102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final</a:t>
            </a:r>
            <a:endParaRPr lang="es-MX" sz="1050" noProof="0" dirty="0"/>
          </a:p>
        </p:txBody>
      </p:sp>
      <p:sp>
        <p:nvSpPr>
          <p:cNvPr id="41" name="Text 39"/>
          <p:cNvSpPr/>
          <p:nvPr/>
        </p:nvSpPr>
        <p:spPr>
          <a:xfrm>
            <a:off x="347472" y="3977640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</a:t>
            </a:r>
            <a:r>
              <a:rPr lang="es-MX" sz="105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SignalP</a:t>
            </a: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5.0 · TMHMM 2.0 · BLASTX/P (</a:t>
            </a:r>
            <a:r>
              <a:rPr lang="es-MX" sz="105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SwissProt</a:t>
            </a: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· </a:t>
            </a:r>
            <a:r>
              <a:rPr lang="es-MX" sz="105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Pfam</a:t>
            </a: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(HMMER) · </a:t>
            </a:r>
            <a:r>
              <a:rPr lang="es-MX" sz="105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EggNOG-mapper</a:t>
            </a:r>
            <a:endParaRPr lang="es-MX" sz="10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3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Tubería 1: Filtrado del </a:t>
            </a:r>
            <a:r>
              <a:rPr lang="es-MX" sz="22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Secretoma</a:t>
            </a:r>
            <a:endParaRPr lang="es-MX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768096"/>
            <a:ext cx="3401568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1E8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de inclusión</a:t>
            </a:r>
            <a:endParaRPr lang="es-MX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3218688" cy="1078992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b="1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SignalP</a:t>
            </a:r>
            <a:r>
              <a:rPr lang="es-MX" sz="1300" b="1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presente</a:t>
            </a:r>
            <a:endParaRPr lang="es-MX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</a:t>
            </a:r>
            <a:r>
              <a:rPr lang="es-MX" sz="110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SignalP</a:t>
            </a:r>
            <a:r>
              <a:rPr lang="es-MX" sz="110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es NA → péptido señal predicho → proteína secretada</a:t>
            </a:r>
            <a:endParaRPr lang="es-MX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411480" y="2432304"/>
            <a:ext cx="3218688" cy="1078992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2505456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b="1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hélices TM</a:t>
            </a:r>
            <a:endParaRPr lang="es-MX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548640" y="2825496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TmHMM</a:t>
            </a:r>
            <a:r>
              <a:rPr lang="es-MX" sz="110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NA  o  contiene "</a:t>
            </a:r>
            <a:r>
              <a:rPr lang="es-MX" sz="110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PredHel</a:t>
            </a:r>
            <a:r>
              <a:rPr lang="es-MX" sz="110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=0" → descarta proteínas de membrana</a:t>
            </a:r>
            <a:endParaRPr lang="es-MX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411480" y="3566160"/>
            <a:ext cx="3218688" cy="1078992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" y="3639312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b="1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s-MX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3959352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proteínas que se secretan al espacio extracelular o al lumen</a:t>
            </a:r>
            <a:endParaRPr lang="es-MX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3886200" y="768096"/>
            <a:ext cx="4937760" cy="4224528"/>
          </a:xfrm>
          <a:prstGeom prst="rect">
            <a:avLst/>
          </a:prstGeom>
          <a:solidFill>
            <a:srgbClr val="0D1B26"/>
          </a:solidFill>
          <a:ln w="12700">
            <a:solidFill>
              <a:srgbClr val="136B7A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6" name="Text 14"/>
          <p:cNvSpPr/>
          <p:nvPr/>
        </p:nvSpPr>
        <p:spPr>
          <a:xfrm>
            <a:off x="4014216" y="868680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Filtro de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secretoma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clasico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────────────────</a:t>
            </a:r>
            <a:endParaRPr lang="es-MX" sz="920" noProof="0" dirty="0"/>
          </a:p>
        </p:txBody>
      </p:sp>
      <p:sp>
        <p:nvSpPr>
          <p:cNvPr id="17" name="Text 15"/>
          <p:cNvSpPr/>
          <p:nvPr/>
        </p:nvSpPr>
        <p:spPr>
          <a:xfrm>
            <a:off x="4014216" y="1046988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secretome_clasico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trinotate_report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%&gt;%</a:t>
            </a:r>
            <a:endParaRPr lang="es-MX" sz="920" noProof="0" dirty="0"/>
          </a:p>
        </p:txBody>
      </p:sp>
      <p:sp>
        <p:nvSpPr>
          <p:cNvPr id="18" name="Text 16"/>
          <p:cNvSpPr/>
          <p:nvPr/>
        </p:nvSpPr>
        <p:spPr>
          <a:xfrm>
            <a:off x="4014216" y="1225296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s-MX" sz="920" noProof="0" dirty="0"/>
          </a:p>
        </p:txBody>
      </p:sp>
      <p:sp>
        <p:nvSpPr>
          <p:cNvPr id="19" name="Text 17"/>
          <p:cNvSpPr/>
          <p:nvPr/>
        </p:nvSpPr>
        <p:spPr>
          <a:xfrm>
            <a:off x="4014216" y="1403604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!is.na(!!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col_signalp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)),</a:t>
            </a:r>
            <a:endParaRPr lang="es-MX" sz="920" noProof="0" dirty="0"/>
          </a:p>
        </p:txBody>
      </p:sp>
      <p:sp>
        <p:nvSpPr>
          <p:cNvPr id="20" name="Text 18"/>
          <p:cNvSpPr/>
          <p:nvPr/>
        </p:nvSpPr>
        <p:spPr>
          <a:xfrm>
            <a:off x="4014216" y="1581912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is.na(!!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col_tmhmm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|</a:t>
            </a:r>
            <a:endParaRPr lang="es-MX" sz="920" noProof="0" dirty="0"/>
          </a:p>
        </p:txBody>
      </p:sp>
      <p:sp>
        <p:nvSpPr>
          <p:cNvPr id="21" name="Text 19"/>
          <p:cNvSpPr/>
          <p:nvPr/>
        </p:nvSpPr>
        <p:spPr>
          <a:xfrm>
            <a:off x="4014216" y="1760220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str_detect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(!!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col_tmhmm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"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PredHel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=0")</a:t>
            </a:r>
            <a:endParaRPr lang="es-MX" sz="920" noProof="0" dirty="0"/>
          </a:p>
        </p:txBody>
      </p:sp>
      <p:sp>
        <p:nvSpPr>
          <p:cNvPr id="22" name="Text 20"/>
          <p:cNvSpPr/>
          <p:nvPr/>
        </p:nvSpPr>
        <p:spPr>
          <a:xfrm>
            <a:off x="4014216" y="1938528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s-MX" sz="920" noProof="0" dirty="0"/>
          </a:p>
        </p:txBody>
      </p:sp>
      <p:sp>
        <p:nvSpPr>
          <p:cNvPr id="23" name="Text 21"/>
          <p:cNvSpPr/>
          <p:nvPr/>
        </p:nvSpPr>
        <p:spPr>
          <a:xfrm>
            <a:off x="4014216" y="2116836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24" name="Text 22"/>
          <p:cNvSpPr/>
          <p:nvPr/>
        </p:nvSpPr>
        <p:spPr>
          <a:xfrm>
            <a:off x="4014216" y="2295144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Construir cadena de evidencia ───────────────</a:t>
            </a:r>
            <a:endParaRPr lang="es-MX" sz="920" noProof="0" dirty="0"/>
          </a:p>
        </p:txBody>
      </p:sp>
      <p:sp>
        <p:nvSpPr>
          <p:cNvPr id="25" name="Text 23"/>
          <p:cNvSpPr/>
          <p:nvPr/>
        </p:nvSpPr>
        <p:spPr>
          <a:xfrm>
            <a:off x="4014216" y="2473452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secretome_clasico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secretome_clasico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%&gt;%</a:t>
            </a:r>
            <a:endParaRPr lang="es-MX" sz="920" noProof="0" dirty="0"/>
          </a:p>
        </p:txBody>
      </p:sp>
      <p:sp>
        <p:nvSpPr>
          <p:cNvPr id="26" name="Text 24"/>
          <p:cNvSpPr/>
          <p:nvPr/>
        </p:nvSpPr>
        <p:spPr>
          <a:xfrm>
            <a:off x="4014216" y="2651760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mutate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s-MX" sz="920" noProof="0" dirty="0"/>
          </a:p>
        </p:txBody>
      </p:sp>
      <p:sp>
        <p:nvSpPr>
          <p:cNvPr id="27" name="Text 25"/>
          <p:cNvSpPr/>
          <p:nvPr/>
        </p:nvSpPr>
        <p:spPr>
          <a:xfrm>
            <a:off x="4014216" y="2830068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evidence_string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paste(</a:t>
            </a:r>
            <a:endParaRPr lang="es-MX" sz="920" noProof="0" dirty="0"/>
          </a:p>
        </p:txBody>
      </p:sp>
      <p:sp>
        <p:nvSpPr>
          <p:cNvPr id="28" name="Text 26"/>
          <p:cNvSpPr/>
          <p:nvPr/>
        </p:nvSpPr>
        <p:spPr>
          <a:xfrm>
            <a:off x="4014216" y="3008376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!!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col_blastx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!!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col_blastp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s-MX" sz="920" noProof="0" dirty="0"/>
          </a:p>
        </p:txBody>
      </p:sp>
      <p:sp>
        <p:nvSpPr>
          <p:cNvPr id="29" name="Text 27"/>
          <p:cNvSpPr/>
          <p:nvPr/>
        </p:nvSpPr>
        <p:spPr>
          <a:xfrm>
            <a:off x="4014216" y="3186684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!!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col_pfam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  !!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col_eggnog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s-MX" sz="920" noProof="0" dirty="0"/>
          </a:p>
        </p:txBody>
      </p:sp>
      <p:sp>
        <p:nvSpPr>
          <p:cNvPr id="30" name="Text 28"/>
          <p:cNvSpPr/>
          <p:nvPr/>
        </p:nvSpPr>
        <p:spPr>
          <a:xfrm>
            <a:off x="4014216" y="3364992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 | ", na.rm = TRUE)</a:t>
            </a:r>
            <a:endParaRPr lang="es-MX" sz="920" noProof="0" dirty="0"/>
          </a:p>
        </p:txBody>
      </p:sp>
      <p:sp>
        <p:nvSpPr>
          <p:cNvPr id="31" name="Text 29"/>
          <p:cNvSpPr/>
          <p:nvPr/>
        </p:nvSpPr>
        <p:spPr>
          <a:xfrm>
            <a:off x="4014216" y="3543300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s-MX" sz="920" noProof="0" dirty="0"/>
          </a:p>
        </p:txBody>
      </p:sp>
      <p:sp>
        <p:nvSpPr>
          <p:cNvPr id="32" name="Text 30"/>
          <p:cNvSpPr/>
          <p:nvPr/>
        </p:nvSpPr>
        <p:spPr>
          <a:xfrm>
            <a:off x="4014216" y="3721608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33" name="Text 31"/>
          <p:cNvSpPr/>
          <p:nvPr/>
        </p:nvSpPr>
        <p:spPr>
          <a:xfrm>
            <a:off x="4014216" y="3899916"/>
            <a:ext cx="4736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C4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</a:t>
            </a:r>
            <a:r>
              <a:rPr lang="es-MX" sz="920" noProof="0" dirty="0">
                <a:solidFill>
                  <a:srgbClr val="A8C4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C4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secretome_clasico</a:t>
            </a:r>
            <a:r>
              <a:rPr lang="es-MX" sz="920" noProof="0" dirty="0">
                <a:solidFill>
                  <a:srgbClr val="A8C4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# transcritos secretados</a:t>
            </a:r>
            <a:endParaRPr lang="es-MX" sz="92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3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Clasificación del </a:t>
            </a:r>
            <a:r>
              <a:rPr lang="es-MX" sz="22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Secretoma</a:t>
            </a:r>
            <a:r>
              <a:rPr lang="es-MX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</a:t>
            </a:r>
            <a:r>
              <a:rPr lang="es-MX" sz="22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case_when</a:t>
            </a:r>
            <a:r>
              <a:rPr lang="es-MX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() + </a:t>
            </a:r>
            <a:r>
              <a:rPr lang="es-MX" sz="22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regex</a:t>
            </a:r>
            <a:endParaRPr lang="es-MX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768096"/>
            <a:ext cx="5394960" cy="4224528"/>
          </a:xfrm>
          <a:prstGeom prst="rect">
            <a:avLst/>
          </a:prstGeom>
          <a:solidFill>
            <a:srgbClr val="0D1B26"/>
          </a:solidFill>
          <a:ln w="12700">
            <a:solidFill>
              <a:srgbClr val="136B7A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/>
          <p:nvPr/>
        </p:nvSpPr>
        <p:spPr>
          <a:xfrm>
            <a:off x="448056" y="868680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Asignacion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veneno ───────────</a:t>
            </a:r>
            <a:endParaRPr lang="es-MX" sz="920" noProof="0" dirty="0"/>
          </a:p>
        </p:txBody>
      </p:sp>
      <p:sp>
        <p:nvSpPr>
          <p:cNvPr id="6" name="Text 4"/>
          <p:cNvSpPr/>
          <p:nvPr/>
        </p:nvSpPr>
        <p:spPr>
          <a:xfrm>
            <a:off x="448056" y="1046988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secretome_clasico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secretome_clasico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%&gt;%</a:t>
            </a:r>
            <a:endParaRPr lang="es-MX" sz="920" noProof="0" dirty="0"/>
          </a:p>
        </p:txBody>
      </p:sp>
      <p:sp>
        <p:nvSpPr>
          <p:cNvPr id="7" name="Text 5"/>
          <p:cNvSpPr/>
          <p:nvPr/>
        </p:nvSpPr>
        <p:spPr>
          <a:xfrm>
            <a:off x="448056" y="1225296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mutate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s-MX" sz="920" noProof="0" dirty="0"/>
          </a:p>
        </p:txBody>
      </p:sp>
      <p:sp>
        <p:nvSpPr>
          <p:cNvPr id="8" name="Text 6"/>
          <p:cNvSpPr/>
          <p:nvPr/>
        </p:nvSpPr>
        <p:spPr>
          <a:xfrm>
            <a:off x="448056" y="1403604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venom_category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case_when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s-MX" sz="920" noProof="0" dirty="0"/>
          </a:p>
        </p:txBody>
      </p:sp>
      <p:sp>
        <p:nvSpPr>
          <p:cNvPr id="9" name="Text 7"/>
          <p:cNvSpPr/>
          <p:nvPr/>
        </p:nvSpPr>
        <p:spPr>
          <a:xfrm>
            <a:off x="448056" y="1581912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10" name="Text 8"/>
          <p:cNvSpPr/>
          <p:nvPr/>
        </p:nvSpPr>
        <p:spPr>
          <a:xfrm>
            <a:off x="448056" y="1760220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ICK /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knottin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(prioridad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maxima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s-MX" sz="920" noProof="0" dirty="0"/>
          </a:p>
        </p:txBody>
      </p:sp>
      <p:sp>
        <p:nvSpPr>
          <p:cNvPr id="11" name="Text 9"/>
          <p:cNvSpPr/>
          <p:nvPr/>
        </p:nvSpPr>
        <p:spPr>
          <a:xfrm>
            <a:off x="448056" y="1938528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str_detect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evidence_string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regex_ick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s-MX" sz="920" noProof="0" dirty="0"/>
          </a:p>
        </p:txBody>
      </p:sp>
      <p:sp>
        <p:nvSpPr>
          <p:cNvPr id="12" name="Text 10"/>
          <p:cNvSpPr/>
          <p:nvPr/>
        </p:nvSpPr>
        <p:spPr>
          <a:xfrm>
            <a:off x="448056" y="2116836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~ "Neurotoxina ICK",</a:t>
            </a:r>
            <a:endParaRPr lang="es-MX" sz="920" noProof="0" dirty="0"/>
          </a:p>
        </p:txBody>
      </p:sp>
      <p:sp>
        <p:nvSpPr>
          <p:cNvPr id="13" name="Text 11"/>
          <p:cNvSpPr/>
          <p:nvPr/>
        </p:nvSpPr>
        <p:spPr>
          <a:xfrm>
            <a:off x="448056" y="2295144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14" name="Text 12"/>
          <p:cNvSpPr/>
          <p:nvPr/>
        </p:nvSpPr>
        <p:spPr>
          <a:xfrm>
            <a:off x="448056" y="2473452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Inhibidores tipo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Kunitz</a:t>
            </a:r>
            <a:endParaRPr lang="es-MX" sz="920" noProof="0" dirty="0"/>
          </a:p>
        </p:txBody>
      </p:sp>
      <p:sp>
        <p:nvSpPr>
          <p:cNvPr id="15" name="Text 13"/>
          <p:cNvSpPr/>
          <p:nvPr/>
        </p:nvSpPr>
        <p:spPr>
          <a:xfrm>
            <a:off x="448056" y="2651760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str_detect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evidence_string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regex_kunitz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s-MX" sz="920" noProof="0" dirty="0"/>
          </a:p>
        </p:txBody>
      </p:sp>
      <p:sp>
        <p:nvSpPr>
          <p:cNvPr id="16" name="Text 14"/>
          <p:cNvSpPr/>
          <p:nvPr/>
        </p:nvSpPr>
        <p:spPr>
          <a:xfrm>
            <a:off x="448056" y="2830068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~ "Inhibidor 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Kunitz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s-MX" sz="920" noProof="0" dirty="0"/>
          </a:p>
        </p:txBody>
      </p:sp>
      <p:sp>
        <p:nvSpPr>
          <p:cNvPr id="17" name="Text 15"/>
          <p:cNvSpPr/>
          <p:nvPr/>
        </p:nvSpPr>
        <p:spPr>
          <a:xfrm>
            <a:off x="448056" y="3008376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18" name="Text 16"/>
          <p:cNvSpPr/>
          <p:nvPr/>
        </p:nvSpPr>
        <p:spPr>
          <a:xfrm>
            <a:off x="448056" y="3186684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Proteasas (metaloproteasa / serina)</a:t>
            </a:r>
            <a:endParaRPr lang="es-MX" sz="920" noProof="0" dirty="0"/>
          </a:p>
        </p:txBody>
      </p:sp>
      <p:sp>
        <p:nvSpPr>
          <p:cNvPr id="19" name="Text 17"/>
          <p:cNvSpPr/>
          <p:nvPr/>
        </p:nvSpPr>
        <p:spPr>
          <a:xfrm>
            <a:off x="448056" y="3364992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str_detect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evidence_string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regex_protease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s-MX" sz="920" noProof="0" dirty="0"/>
          </a:p>
        </p:txBody>
      </p:sp>
      <p:sp>
        <p:nvSpPr>
          <p:cNvPr id="20" name="Text 18"/>
          <p:cNvSpPr/>
          <p:nvPr/>
        </p:nvSpPr>
        <p:spPr>
          <a:xfrm>
            <a:off x="448056" y="3543300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~ "Proteasa",</a:t>
            </a:r>
            <a:endParaRPr lang="es-MX" sz="920" noProof="0" dirty="0"/>
          </a:p>
        </p:txBody>
      </p:sp>
      <p:sp>
        <p:nvSpPr>
          <p:cNvPr id="21" name="Text 19"/>
          <p:cNvSpPr/>
          <p:nvPr/>
        </p:nvSpPr>
        <p:spPr>
          <a:xfrm>
            <a:off x="448056" y="3721608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22" name="Text 20"/>
          <p:cNvSpPr/>
          <p:nvPr/>
        </p:nvSpPr>
        <p:spPr>
          <a:xfrm>
            <a:off x="448056" y="3899916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TRUE ~ "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Proteina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sin clasificar"</a:t>
            </a:r>
            <a:endParaRPr lang="es-MX" sz="920" noProof="0" dirty="0"/>
          </a:p>
        </p:txBody>
      </p:sp>
      <p:sp>
        <p:nvSpPr>
          <p:cNvPr id="23" name="Text 21"/>
          <p:cNvSpPr/>
          <p:nvPr/>
        </p:nvSpPr>
        <p:spPr>
          <a:xfrm>
            <a:off x="448056" y="4078224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s-MX" sz="920" noProof="0" dirty="0"/>
          </a:p>
        </p:txBody>
      </p:sp>
      <p:sp>
        <p:nvSpPr>
          <p:cNvPr id="24" name="Text 22"/>
          <p:cNvSpPr/>
          <p:nvPr/>
        </p:nvSpPr>
        <p:spPr>
          <a:xfrm>
            <a:off x="448056" y="4256532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s-MX" sz="920" noProof="0" dirty="0"/>
          </a:p>
        </p:txBody>
      </p:sp>
      <p:sp>
        <p:nvSpPr>
          <p:cNvPr id="25" name="Shape 23"/>
          <p:cNvSpPr/>
          <p:nvPr/>
        </p:nvSpPr>
        <p:spPr>
          <a:xfrm>
            <a:off x="5897880" y="768096"/>
            <a:ext cx="292608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6" name="Text 24"/>
          <p:cNvSpPr/>
          <p:nvPr/>
        </p:nvSpPr>
        <p:spPr>
          <a:xfrm>
            <a:off x="6035040" y="85953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1E8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Puntos clave</a:t>
            </a:r>
            <a:endParaRPr lang="es-MX" sz="1400" noProof="0" dirty="0"/>
          </a:p>
        </p:txBody>
      </p:sp>
      <p:sp>
        <p:nvSpPr>
          <p:cNvPr id="27" name="Shape 25"/>
          <p:cNvSpPr/>
          <p:nvPr/>
        </p:nvSpPr>
        <p:spPr>
          <a:xfrm>
            <a:off x="5943600" y="1298448"/>
            <a:ext cx="2834640" cy="694944"/>
          </a:xfrm>
          <a:prstGeom prst="rect">
            <a:avLst/>
          </a:prstGeom>
          <a:solidFill>
            <a:srgbClr val="F4F8FA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8" name="Text 26"/>
          <p:cNvSpPr/>
          <p:nvPr/>
        </p:nvSpPr>
        <p:spPr>
          <a:xfrm>
            <a:off x="6053328" y="13533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 err="1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case_when</a:t>
            </a:r>
            <a:r>
              <a:rPr lang="es-MX" sz="1100" b="1" noProof="0" dirty="0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s-MX" sz="1100" noProof="0" dirty="0"/>
          </a:p>
        </p:txBody>
      </p:sp>
      <p:sp>
        <p:nvSpPr>
          <p:cNvPr id="29" name="Text 27"/>
          <p:cNvSpPr/>
          <p:nvPr/>
        </p:nvSpPr>
        <p:spPr>
          <a:xfrm>
            <a:off x="6053328" y="162763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a </a:t>
            </a:r>
            <a:r>
              <a:rPr lang="es-MX" sz="105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MX" sz="105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encadenado, vectorizado y legible</a:t>
            </a:r>
            <a:endParaRPr lang="es-MX" sz="1050" noProof="0" dirty="0"/>
          </a:p>
        </p:txBody>
      </p:sp>
      <p:sp>
        <p:nvSpPr>
          <p:cNvPr id="30" name="Shape 28"/>
          <p:cNvSpPr/>
          <p:nvPr/>
        </p:nvSpPr>
        <p:spPr>
          <a:xfrm>
            <a:off x="5943600" y="2039112"/>
            <a:ext cx="2834640" cy="694944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1" name="Text 29"/>
          <p:cNvSpPr/>
          <p:nvPr/>
        </p:nvSpPr>
        <p:spPr>
          <a:xfrm>
            <a:off x="6053328" y="20939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Orden importa</a:t>
            </a:r>
            <a:endParaRPr lang="es-MX" sz="1100" noProof="0" dirty="0"/>
          </a:p>
        </p:txBody>
      </p:sp>
      <p:sp>
        <p:nvSpPr>
          <p:cNvPr id="32" name="Text 30"/>
          <p:cNvSpPr/>
          <p:nvPr/>
        </p:nvSpPr>
        <p:spPr>
          <a:xfrm>
            <a:off x="6053328" y="236829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patrón que se cumple asigna la categoría; colocar primero las más específicas</a:t>
            </a:r>
            <a:endParaRPr lang="es-MX" sz="1050" noProof="0" dirty="0"/>
          </a:p>
        </p:txBody>
      </p:sp>
      <p:sp>
        <p:nvSpPr>
          <p:cNvPr id="33" name="Shape 31"/>
          <p:cNvSpPr/>
          <p:nvPr/>
        </p:nvSpPr>
        <p:spPr>
          <a:xfrm>
            <a:off x="5943600" y="2779776"/>
            <a:ext cx="2834640" cy="694944"/>
          </a:xfrm>
          <a:prstGeom prst="rect">
            <a:avLst/>
          </a:prstGeom>
          <a:solidFill>
            <a:srgbClr val="F4F8FA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4" name="Text 32"/>
          <p:cNvSpPr/>
          <p:nvPr/>
        </p:nvSpPr>
        <p:spPr>
          <a:xfrm>
            <a:off x="6053328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~</a:t>
            </a:r>
            <a:endParaRPr lang="es-MX" sz="1100" noProof="0" dirty="0"/>
          </a:p>
        </p:txBody>
      </p:sp>
      <p:sp>
        <p:nvSpPr>
          <p:cNvPr id="35" name="Text 33"/>
          <p:cNvSpPr/>
          <p:nvPr/>
        </p:nvSpPr>
        <p:spPr>
          <a:xfrm>
            <a:off x="6053328" y="310896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 catch-</a:t>
            </a:r>
            <a:r>
              <a:rPr lang="es-MX" sz="105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ningún transcrito queda sin categoría</a:t>
            </a:r>
            <a:endParaRPr lang="es-MX" sz="1050" noProof="0" dirty="0"/>
          </a:p>
        </p:txBody>
      </p:sp>
      <p:sp>
        <p:nvSpPr>
          <p:cNvPr id="36" name="Shape 34"/>
          <p:cNvSpPr/>
          <p:nvPr/>
        </p:nvSpPr>
        <p:spPr>
          <a:xfrm>
            <a:off x="5943600" y="3520440"/>
            <a:ext cx="2834640" cy="694944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7" name="Text 35"/>
          <p:cNvSpPr/>
          <p:nvPr/>
        </p:nvSpPr>
        <p:spPr>
          <a:xfrm>
            <a:off x="6053328" y="35753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 err="1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str_detect</a:t>
            </a:r>
            <a:r>
              <a:rPr lang="es-MX" sz="1100" b="1" noProof="0" dirty="0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s-MX" sz="1100" noProof="0" dirty="0"/>
          </a:p>
        </p:txBody>
      </p:sp>
      <p:sp>
        <p:nvSpPr>
          <p:cNvPr id="38" name="Text 36"/>
          <p:cNvSpPr/>
          <p:nvPr/>
        </p:nvSpPr>
        <p:spPr>
          <a:xfrm>
            <a:off x="6053328" y="384962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el </a:t>
            </a:r>
            <a:r>
              <a:rPr lang="es-MX" sz="105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toda la columna sin usar </a:t>
            </a:r>
            <a:r>
              <a:rPr lang="es-MX" sz="105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s-MX" sz="1050" noProof="0" dirty="0"/>
          </a:p>
        </p:txBody>
      </p:sp>
      <p:sp>
        <p:nvSpPr>
          <p:cNvPr id="39" name="Shape 37"/>
          <p:cNvSpPr/>
          <p:nvPr/>
        </p:nvSpPr>
        <p:spPr>
          <a:xfrm>
            <a:off x="5943600" y="4261104"/>
            <a:ext cx="2834640" cy="694944"/>
          </a:xfrm>
          <a:prstGeom prst="rect">
            <a:avLst/>
          </a:prstGeom>
          <a:solidFill>
            <a:srgbClr val="F4F8FA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0" name="Text 38"/>
          <p:cNvSpPr/>
          <p:nvPr/>
        </p:nvSpPr>
        <p:spPr>
          <a:xfrm>
            <a:off x="6053328" y="43159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(?i) </a:t>
            </a:r>
            <a:r>
              <a:rPr lang="es-MX" sz="1100" b="1" noProof="0" dirty="0" err="1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</a:t>
            </a:r>
            <a:endParaRPr lang="es-MX" sz="1100" noProof="0" dirty="0"/>
          </a:p>
        </p:txBody>
      </p:sp>
      <p:sp>
        <p:nvSpPr>
          <p:cNvPr id="41" name="Text 39"/>
          <p:cNvSpPr/>
          <p:nvPr/>
        </p:nvSpPr>
        <p:spPr>
          <a:xfrm>
            <a:off x="6053328" y="459028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(?i) al inicio del </a:t>
            </a:r>
            <a:r>
              <a:rPr lang="es-MX" sz="105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ignorar mayúsculas/minúsculas</a:t>
            </a:r>
            <a:endParaRPr lang="es-MX" sz="105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3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Tubería 2: Rescate de </a:t>
            </a:r>
            <a:r>
              <a:rPr lang="es-MX" sz="22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AMPs</a:t>
            </a:r>
            <a:r>
              <a:rPr lang="es-MX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sin Péptido Señal</a:t>
            </a:r>
            <a:endParaRPr lang="es-MX" sz="2200" noProof="0" dirty="0"/>
          </a:p>
        </p:txBody>
      </p:sp>
      <p:sp>
        <p:nvSpPr>
          <p:cNvPr id="4" name="Text 2"/>
          <p:cNvSpPr/>
          <p:nvPr/>
        </p:nvSpPr>
        <p:spPr>
          <a:xfrm>
            <a:off x="347472" y="749808"/>
            <a:ext cx="8449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lang="es-MX" sz="120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AMPs</a:t>
            </a:r>
            <a:r>
              <a:rPr lang="es-MX" sz="120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arañas frecuentemente carecen de péptido señal convencional. Un segundo filtro recupera estos candidatos del subconjunto excluido por la Tubería 1.</a:t>
            </a:r>
            <a:endParaRPr lang="es-MX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1243584"/>
            <a:ext cx="5394960" cy="3749040"/>
          </a:xfrm>
          <a:prstGeom prst="rect">
            <a:avLst/>
          </a:prstGeom>
          <a:solidFill>
            <a:srgbClr val="0D1B26"/>
          </a:solidFill>
          <a:ln w="12700">
            <a:solidFill>
              <a:srgbClr val="136B7A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448056" y="1344168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Subconjunto excluido por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Tuberia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─────────</a:t>
            </a:r>
            <a:endParaRPr lang="es-MX" sz="920" noProof="0" dirty="0"/>
          </a:p>
        </p:txBody>
      </p:sp>
      <p:sp>
        <p:nvSpPr>
          <p:cNvPr id="7" name="Text 5"/>
          <p:cNvSpPr/>
          <p:nvPr/>
        </p:nvSpPr>
        <p:spPr>
          <a:xfrm>
            <a:off x="448056" y="1522476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non_secretome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trinotate_report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%&gt;%</a:t>
            </a:r>
            <a:endParaRPr lang="es-MX" sz="920" noProof="0" dirty="0"/>
          </a:p>
        </p:txBody>
      </p:sp>
      <p:sp>
        <p:nvSpPr>
          <p:cNvPr id="8" name="Text 6"/>
          <p:cNvSpPr/>
          <p:nvPr/>
        </p:nvSpPr>
        <p:spPr>
          <a:xfrm>
            <a:off x="448056" y="1700784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anti_join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secretome_clasico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s-MX" sz="920" noProof="0" dirty="0"/>
          </a:p>
        </p:txBody>
      </p:sp>
      <p:sp>
        <p:nvSpPr>
          <p:cNvPr id="9" name="Text 7"/>
          <p:cNvSpPr/>
          <p:nvPr/>
        </p:nvSpPr>
        <p:spPr>
          <a:xfrm>
            <a:off x="448056" y="1879092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col_transcrit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s-MX" sz="920" noProof="0" dirty="0"/>
          </a:p>
        </p:txBody>
      </p:sp>
      <p:sp>
        <p:nvSpPr>
          <p:cNvPr id="10" name="Text 8"/>
          <p:cNvSpPr/>
          <p:nvPr/>
        </p:nvSpPr>
        <p:spPr>
          <a:xfrm>
            <a:off x="448056" y="2057400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11" name="Text 9"/>
          <p:cNvSpPr/>
          <p:nvPr/>
        </p:nvSpPr>
        <p:spPr>
          <a:xfrm>
            <a:off x="448056" y="2235708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Patron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AMP de rescate ────────────────────────</a:t>
            </a:r>
            <a:endParaRPr lang="es-MX" sz="920" noProof="0" dirty="0"/>
          </a:p>
        </p:txBody>
      </p:sp>
      <p:sp>
        <p:nvSpPr>
          <p:cNvPr id="12" name="Text 10"/>
          <p:cNvSpPr/>
          <p:nvPr/>
        </p:nvSpPr>
        <p:spPr>
          <a:xfrm>
            <a:off x="448056" y="2414016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regex_amp_rescate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paste(</a:t>
            </a:r>
            <a:endParaRPr lang="es-MX" sz="920" noProof="0" dirty="0"/>
          </a:p>
        </p:txBody>
      </p:sp>
      <p:sp>
        <p:nvSpPr>
          <p:cNvPr id="13" name="Text 11"/>
          <p:cNvSpPr/>
          <p:nvPr/>
        </p:nvSpPr>
        <p:spPr>
          <a:xfrm>
            <a:off x="448056" y="2592324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defensin|cathelicidin|antimicrobial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s-MX" sz="920" noProof="0" dirty="0"/>
          </a:p>
        </p:txBody>
      </p:sp>
      <p:sp>
        <p:nvSpPr>
          <p:cNvPr id="14" name="Text 12"/>
          <p:cNvSpPr/>
          <p:nvPr/>
        </p:nvSpPr>
        <p:spPr>
          <a:xfrm>
            <a:off x="448056" y="2770632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cecropin|magainin|protegrin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s-MX" sz="920" noProof="0" dirty="0"/>
          </a:p>
        </p:txBody>
      </p:sp>
      <p:sp>
        <p:nvSpPr>
          <p:cNvPr id="15" name="Text 13"/>
          <p:cNvSpPr/>
          <p:nvPr/>
        </p:nvSpPr>
        <p:spPr>
          <a:xfrm>
            <a:off x="448056" y="2948940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"Defensin_1|Defensin_2", 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"|")</a:t>
            </a:r>
            <a:endParaRPr lang="es-MX" sz="920" noProof="0" dirty="0"/>
          </a:p>
        </p:txBody>
      </p:sp>
      <p:sp>
        <p:nvSpPr>
          <p:cNvPr id="16" name="Text 14"/>
          <p:cNvSpPr/>
          <p:nvPr/>
        </p:nvSpPr>
        <p:spPr>
          <a:xfrm>
            <a:off x="448056" y="3127248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17" name="Text 15"/>
          <p:cNvSpPr/>
          <p:nvPr/>
        </p:nvSpPr>
        <p:spPr>
          <a:xfrm>
            <a:off x="448056" y="3305556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Filtro de rescate ────────────────────────────</a:t>
            </a:r>
            <a:endParaRPr lang="es-MX" sz="920" noProof="0" dirty="0"/>
          </a:p>
        </p:txBody>
      </p:sp>
      <p:sp>
        <p:nvSpPr>
          <p:cNvPr id="18" name="Text 16"/>
          <p:cNvSpPr/>
          <p:nvPr/>
        </p:nvSpPr>
        <p:spPr>
          <a:xfrm>
            <a:off x="448056" y="3483864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amp_rescate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non_secretome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%&gt;%</a:t>
            </a:r>
            <a:endParaRPr lang="es-MX" sz="920" noProof="0" dirty="0"/>
          </a:p>
        </p:txBody>
      </p:sp>
      <p:sp>
        <p:nvSpPr>
          <p:cNvPr id="19" name="Text 17"/>
          <p:cNvSpPr/>
          <p:nvPr/>
        </p:nvSpPr>
        <p:spPr>
          <a:xfrm>
            <a:off x="448056" y="3662172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mutate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evidence_string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paste(</a:t>
            </a:r>
            <a:endParaRPr lang="es-MX" sz="920" noProof="0" dirty="0"/>
          </a:p>
        </p:txBody>
      </p:sp>
      <p:sp>
        <p:nvSpPr>
          <p:cNvPr id="20" name="Text 18"/>
          <p:cNvSpPr/>
          <p:nvPr/>
        </p:nvSpPr>
        <p:spPr>
          <a:xfrm>
            <a:off x="448056" y="3840480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!!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col_blastx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!!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col_blastp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s-MX" sz="920" noProof="0" dirty="0"/>
          </a:p>
        </p:txBody>
      </p:sp>
      <p:sp>
        <p:nvSpPr>
          <p:cNvPr id="21" name="Text 19"/>
          <p:cNvSpPr/>
          <p:nvPr/>
        </p:nvSpPr>
        <p:spPr>
          <a:xfrm>
            <a:off x="448056" y="4018788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!!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col_pfam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 | ")) %&gt;%</a:t>
            </a:r>
            <a:endParaRPr lang="es-MX" sz="920" noProof="0" dirty="0"/>
          </a:p>
        </p:txBody>
      </p:sp>
      <p:sp>
        <p:nvSpPr>
          <p:cNvPr id="22" name="Text 20"/>
          <p:cNvSpPr/>
          <p:nvPr/>
        </p:nvSpPr>
        <p:spPr>
          <a:xfrm>
            <a:off x="448056" y="4197096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s-MX" sz="920" noProof="0" dirty="0"/>
          </a:p>
        </p:txBody>
      </p:sp>
      <p:sp>
        <p:nvSpPr>
          <p:cNvPr id="23" name="Text 21"/>
          <p:cNvSpPr/>
          <p:nvPr/>
        </p:nvSpPr>
        <p:spPr>
          <a:xfrm>
            <a:off x="448056" y="4375404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str_detect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evidence_string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s-MX" sz="920" noProof="0" dirty="0"/>
          </a:p>
        </p:txBody>
      </p:sp>
      <p:sp>
        <p:nvSpPr>
          <p:cNvPr id="24" name="Text 22"/>
          <p:cNvSpPr/>
          <p:nvPr/>
        </p:nvSpPr>
        <p:spPr>
          <a:xfrm>
            <a:off x="448056" y="4553712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regex_amp_rescate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s-MX" sz="920" noProof="0" dirty="0"/>
          </a:p>
        </p:txBody>
      </p:sp>
      <p:sp>
        <p:nvSpPr>
          <p:cNvPr id="25" name="Shape 23"/>
          <p:cNvSpPr/>
          <p:nvPr/>
        </p:nvSpPr>
        <p:spPr>
          <a:xfrm>
            <a:off x="5852160" y="1243584"/>
            <a:ext cx="2971800" cy="749808"/>
          </a:xfrm>
          <a:prstGeom prst="rect">
            <a:avLst/>
          </a:prstGeom>
          <a:solidFill>
            <a:srgbClr val="FFF8E1"/>
          </a:solidFill>
          <a:ln w="12700">
            <a:solidFill>
              <a:srgbClr val="E8C67A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6" name="Text 24"/>
          <p:cNvSpPr/>
          <p:nvPr/>
        </p:nvSpPr>
        <p:spPr>
          <a:xfrm>
            <a:off x="5943600" y="1307592"/>
            <a:ext cx="2807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 err="1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anti_join</a:t>
            </a: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(): devuelve</a:t>
            </a:r>
            <a:endParaRPr lang="es-MX" sz="1050" noProof="0" dirty="0"/>
          </a:p>
          <a:p>
            <a:pPr marL="0" indent="0">
              <a:buNone/>
            </a:pP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transcritos NO</a:t>
            </a:r>
            <a:endParaRPr lang="es-MX" sz="1050" noProof="0" dirty="0"/>
          </a:p>
          <a:p>
            <a:pPr marL="0" indent="0">
              <a:buNone/>
            </a:pP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presentes en el </a:t>
            </a:r>
            <a:r>
              <a:rPr lang="es-MX" sz="1050" noProof="0" dirty="0" err="1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secretoma</a:t>
            </a: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MX" sz="1050" noProof="0" dirty="0"/>
          </a:p>
        </p:txBody>
      </p:sp>
      <p:sp>
        <p:nvSpPr>
          <p:cNvPr id="27" name="Shape 25"/>
          <p:cNvSpPr/>
          <p:nvPr/>
        </p:nvSpPr>
        <p:spPr>
          <a:xfrm>
            <a:off x="5852160" y="2103120"/>
            <a:ext cx="2971800" cy="841248"/>
          </a:xfrm>
          <a:prstGeom prst="rect">
            <a:avLst/>
          </a:prstGeom>
          <a:solidFill>
            <a:srgbClr val="FFF8E1"/>
          </a:solidFill>
          <a:ln w="12700">
            <a:solidFill>
              <a:srgbClr val="E8C67A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8" name="Text 26"/>
          <p:cNvSpPr/>
          <p:nvPr/>
        </p:nvSpPr>
        <p:spPr>
          <a:xfrm>
            <a:off x="5943600" y="2167128"/>
            <a:ext cx="2807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 err="1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AMP: basado en</a:t>
            </a:r>
            <a:endParaRPr lang="es-MX" sz="1050" noProof="0" dirty="0"/>
          </a:p>
          <a:p>
            <a:pPr marL="0" indent="0">
              <a:buNone/>
            </a:pP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de familia </a:t>
            </a:r>
            <a:r>
              <a:rPr lang="es-MX" sz="1050" noProof="0" dirty="0" err="1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Pfam</a:t>
            </a:r>
            <a:endParaRPr lang="es-MX" sz="1050" noProof="0" dirty="0"/>
          </a:p>
          <a:p>
            <a:pPr marL="0" indent="0">
              <a:buNone/>
            </a:pP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términos </a:t>
            </a:r>
            <a:r>
              <a:rPr lang="es-MX" sz="1050" noProof="0" dirty="0" err="1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SwissProt</a:t>
            </a: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MX" sz="1050" noProof="0" dirty="0"/>
          </a:p>
        </p:txBody>
      </p:sp>
      <p:sp>
        <p:nvSpPr>
          <p:cNvPr id="29" name="Shape 27"/>
          <p:cNvSpPr/>
          <p:nvPr/>
        </p:nvSpPr>
        <p:spPr>
          <a:xfrm>
            <a:off x="5852160" y="3054096"/>
            <a:ext cx="2971800" cy="1024128"/>
          </a:xfrm>
          <a:prstGeom prst="rect">
            <a:avLst/>
          </a:prstGeom>
          <a:solidFill>
            <a:srgbClr val="FFF8E1"/>
          </a:solidFill>
          <a:ln w="12700">
            <a:solidFill>
              <a:srgbClr val="E8C67A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0" name="Text 28"/>
          <p:cNvSpPr/>
          <p:nvPr/>
        </p:nvSpPr>
        <p:spPr>
          <a:xfrm>
            <a:off x="5943600" y="3118104"/>
            <a:ext cx="28072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 err="1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str_detect</a:t>
            </a: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como filtro</a:t>
            </a:r>
            <a:endParaRPr lang="es-MX" sz="1050" noProof="0" dirty="0"/>
          </a:p>
          <a:p>
            <a:pPr marL="0" indent="0">
              <a:buNone/>
            </a:pP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directo: si la cadena de</a:t>
            </a:r>
            <a:endParaRPr lang="es-MX" sz="1050" noProof="0" dirty="0"/>
          </a:p>
          <a:p>
            <a:pPr marL="0" indent="0">
              <a:buNone/>
            </a:pP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contiene alguna</a:t>
            </a:r>
            <a:endParaRPr lang="es-MX" sz="1050" noProof="0" dirty="0"/>
          </a:p>
          <a:p>
            <a:pPr marL="0" indent="0">
              <a:buNone/>
            </a:pP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 AMP, el transcrito</a:t>
            </a:r>
            <a:endParaRPr lang="es-MX" sz="1050" noProof="0" dirty="0"/>
          </a:p>
          <a:p>
            <a:pPr marL="0" indent="0">
              <a:buNone/>
            </a:pPr>
            <a:r>
              <a:rPr lang="es-MX" sz="1050" noProof="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rescata.</a:t>
            </a:r>
            <a:endParaRPr lang="es-MX" sz="105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3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Integración Final y Exportación</a:t>
            </a:r>
            <a:endParaRPr lang="es-MX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768096"/>
            <a:ext cx="5394960" cy="4224528"/>
          </a:xfrm>
          <a:prstGeom prst="rect">
            <a:avLst/>
          </a:prstGeom>
          <a:solidFill>
            <a:srgbClr val="0D1B26"/>
          </a:solidFill>
          <a:ln w="12700">
            <a:solidFill>
              <a:srgbClr val="136B7A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/>
          <p:nvPr/>
        </p:nvSpPr>
        <p:spPr>
          <a:xfrm>
            <a:off x="448056" y="868680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Unificar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AMPs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──────────────────</a:t>
            </a:r>
            <a:endParaRPr lang="es-MX" sz="920" noProof="0" dirty="0"/>
          </a:p>
        </p:txBody>
      </p:sp>
      <p:sp>
        <p:nvSpPr>
          <p:cNvPr id="6" name="Text 4"/>
          <p:cNvSpPr/>
          <p:nvPr/>
        </p:nvSpPr>
        <p:spPr>
          <a:xfrm>
            <a:off x="448056" y="1046988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amp_rescate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amp_rescate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%&gt;%</a:t>
            </a:r>
            <a:endParaRPr lang="es-MX" sz="920" noProof="0" dirty="0"/>
          </a:p>
        </p:txBody>
      </p:sp>
      <p:sp>
        <p:nvSpPr>
          <p:cNvPr id="7" name="Text 5"/>
          <p:cNvSpPr/>
          <p:nvPr/>
        </p:nvSpPr>
        <p:spPr>
          <a:xfrm>
            <a:off x="448056" y="1225296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mutate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venom_category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s-MX" sz="920" noProof="0" dirty="0"/>
          </a:p>
        </p:txBody>
      </p:sp>
      <p:sp>
        <p:nvSpPr>
          <p:cNvPr id="8" name="Text 6"/>
          <p:cNvSpPr/>
          <p:nvPr/>
        </p:nvSpPr>
        <p:spPr>
          <a:xfrm>
            <a:off x="448056" y="1403604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Peptido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Antimicrobiano (Completo)")</a:t>
            </a:r>
            <a:endParaRPr lang="es-MX" sz="920" noProof="0" dirty="0"/>
          </a:p>
        </p:txBody>
      </p:sp>
      <p:sp>
        <p:nvSpPr>
          <p:cNvPr id="9" name="Text 7"/>
          <p:cNvSpPr/>
          <p:nvPr/>
        </p:nvSpPr>
        <p:spPr>
          <a:xfrm>
            <a:off x="448056" y="1581912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10" name="Text 8"/>
          <p:cNvSpPr/>
          <p:nvPr/>
        </p:nvSpPr>
        <p:spPr>
          <a:xfrm>
            <a:off x="448056" y="1760220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Venoma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completo ───────────────────────────────</a:t>
            </a:r>
            <a:endParaRPr lang="es-MX" sz="920" noProof="0" dirty="0"/>
          </a:p>
        </p:txBody>
      </p:sp>
      <p:sp>
        <p:nvSpPr>
          <p:cNvPr id="11" name="Text 9"/>
          <p:cNvSpPr/>
          <p:nvPr/>
        </p:nvSpPr>
        <p:spPr>
          <a:xfrm>
            <a:off x="448056" y="1938528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venoma_completo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bind_rows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s-MX" sz="920" noProof="0" dirty="0"/>
          </a:p>
        </p:txBody>
      </p:sp>
      <p:sp>
        <p:nvSpPr>
          <p:cNvPr id="12" name="Text 10"/>
          <p:cNvSpPr/>
          <p:nvPr/>
        </p:nvSpPr>
        <p:spPr>
          <a:xfrm>
            <a:off x="448056" y="2116836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secretome_clasico</a:t>
            </a: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s-MX" sz="920" noProof="0" dirty="0"/>
          </a:p>
        </p:txBody>
      </p:sp>
      <p:sp>
        <p:nvSpPr>
          <p:cNvPr id="13" name="Text 11"/>
          <p:cNvSpPr/>
          <p:nvPr/>
        </p:nvSpPr>
        <p:spPr>
          <a:xfrm>
            <a:off x="448056" y="2295144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amp_rescate</a:t>
            </a:r>
            <a:endParaRPr lang="es-MX" sz="920" noProof="0" dirty="0"/>
          </a:p>
        </p:txBody>
      </p:sp>
      <p:sp>
        <p:nvSpPr>
          <p:cNvPr id="14" name="Text 12"/>
          <p:cNvSpPr/>
          <p:nvPr/>
        </p:nvSpPr>
        <p:spPr>
          <a:xfrm>
            <a:off x="448056" y="2473452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s-MX" sz="920" noProof="0" dirty="0"/>
          </a:p>
        </p:txBody>
      </p:sp>
      <p:sp>
        <p:nvSpPr>
          <p:cNvPr id="15" name="Text 13"/>
          <p:cNvSpPr/>
          <p:nvPr/>
        </p:nvSpPr>
        <p:spPr>
          <a:xfrm>
            <a:off x="448056" y="2651760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16" name="Text 14"/>
          <p:cNvSpPr/>
          <p:nvPr/>
        </p:nvSpPr>
        <p:spPr>
          <a:xfrm>
            <a:off x="448056" y="2830068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Tabla resumen por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──────────────────</a:t>
            </a:r>
            <a:endParaRPr lang="es-MX" sz="920" noProof="0" dirty="0"/>
          </a:p>
        </p:txBody>
      </p:sp>
      <p:sp>
        <p:nvSpPr>
          <p:cNvPr id="17" name="Text 15"/>
          <p:cNvSpPr/>
          <p:nvPr/>
        </p:nvSpPr>
        <p:spPr>
          <a:xfrm>
            <a:off x="448056" y="3008376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summary_table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venoma_completo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%&gt;%</a:t>
            </a:r>
            <a:endParaRPr lang="es-MX" sz="920" noProof="0" dirty="0"/>
          </a:p>
        </p:txBody>
      </p:sp>
      <p:sp>
        <p:nvSpPr>
          <p:cNvPr id="18" name="Text 16"/>
          <p:cNvSpPr/>
          <p:nvPr/>
        </p:nvSpPr>
        <p:spPr>
          <a:xfrm>
            <a:off x="448056" y="3186684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venom_category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TRUE,</a:t>
            </a:r>
            <a:endParaRPr lang="es-MX" sz="920" noProof="0" dirty="0"/>
          </a:p>
        </p:txBody>
      </p:sp>
      <p:sp>
        <p:nvSpPr>
          <p:cNvPr id="19" name="Text 17"/>
          <p:cNvSpPr/>
          <p:nvPr/>
        </p:nvSpPr>
        <p:spPr>
          <a:xfrm>
            <a:off x="448056" y="3364992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transcript_count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s-MX" sz="920" noProof="0" dirty="0"/>
          </a:p>
        </p:txBody>
      </p:sp>
      <p:sp>
        <p:nvSpPr>
          <p:cNvPr id="20" name="Text 18"/>
          <p:cNvSpPr/>
          <p:nvPr/>
        </p:nvSpPr>
        <p:spPr>
          <a:xfrm>
            <a:off x="448056" y="3543300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s-MX" sz="920" noProof="0" dirty="0"/>
          </a:p>
        </p:txBody>
      </p:sp>
      <p:sp>
        <p:nvSpPr>
          <p:cNvPr id="21" name="Text 19"/>
          <p:cNvSpPr/>
          <p:nvPr/>
        </p:nvSpPr>
        <p:spPr>
          <a:xfrm>
            <a:off x="448056" y="3721608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Exportacion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CSV por </a:t>
            </a:r>
            <a:r>
              <a:rPr lang="es-MX" sz="920" noProof="0" dirty="0" err="1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s-MX" sz="920" noProof="0" dirty="0">
                <a:solidFill>
                  <a:srgbClr val="5F8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───────────────</a:t>
            </a:r>
            <a:endParaRPr lang="es-MX" sz="920" noProof="0" dirty="0"/>
          </a:p>
        </p:txBody>
      </p:sp>
      <p:sp>
        <p:nvSpPr>
          <p:cNvPr id="22" name="Text 20"/>
          <p:cNvSpPr/>
          <p:nvPr/>
        </p:nvSpPr>
        <p:spPr>
          <a:xfrm>
            <a:off x="448056" y="3899916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venoma_completo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%&gt;%</a:t>
            </a:r>
            <a:endParaRPr lang="es-MX" sz="920" noProof="0" dirty="0"/>
          </a:p>
        </p:txBody>
      </p:sp>
      <p:sp>
        <p:nvSpPr>
          <p:cNvPr id="23" name="Text 21"/>
          <p:cNvSpPr/>
          <p:nvPr/>
        </p:nvSpPr>
        <p:spPr>
          <a:xfrm>
            <a:off x="448056" y="4078224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group_by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venom_category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%&gt;%</a:t>
            </a:r>
            <a:endParaRPr lang="es-MX" sz="920" noProof="0" dirty="0"/>
          </a:p>
        </p:txBody>
      </p:sp>
      <p:sp>
        <p:nvSpPr>
          <p:cNvPr id="24" name="Text 22"/>
          <p:cNvSpPr/>
          <p:nvPr/>
        </p:nvSpPr>
        <p:spPr>
          <a:xfrm>
            <a:off x="448056" y="4256532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group_walk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(~ </a:t>
            </a:r>
            <a:r>
              <a:rPr lang="es-MX" sz="920" noProof="0" dirty="0" err="1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write_csv</a:t>
            </a:r>
            <a:r>
              <a:rPr lang="es-MX" sz="920" noProof="0" dirty="0">
                <a:solidFill>
                  <a:srgbClr val="A8D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(.x,</a:t>
            </a:r>
            <a:endParaRPr lang="es-MX" sz="920" noProof="0" dirty="0"/>
          </a:p>
        </p:txBody>
      </p:sp>
      <p:sp>
        <p:nvSpPr>
          <p:cNvPr id="25" name="Text 23"/>
          <p:cNvSpPr/>
          <p:nvPr/>
        </p:nvSpPr>
        <p:spPr>
          <a:xfrm>
            <a:off x="448056" y="4434840"/>
            <a:ext cx="5193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paste0(.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y$venom_category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".</a:t>
            </a:r>
            <a:r>
              <a:rPr lang="es-MX" sz="920" noProof="0" dirty="0" err="1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</a:t>
            </a:r>
            <a:r>
              <a:rPr lang="es-MX" sz="920" noProof="0" dirty="0">
                <a:solidFill>
                  <a:srgbClr val="E8C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")))</a:t>
            </a:r>
            <a:endParaRPr lang="es-MX" sz="920" noProof="0" dirty="0"/>
          </a:p>
        </p:txBody>
      </p:sp>
      <p:sp>
        <p:nvSpPr>
          <p:cNvPr id="26" name="Shape 24"/>
          <p:cNvSpPr/>
          <p:nvPr/>
        </p:nvSpPr>
        <p:spPr>
          <a:xfrm>
            <a:off x="5897880" y="768096"/>
            <a:ext cx="292608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7" name="Text 25"/>
          <p:cNvSpPr/>
          <p:nvPr/>
        </p:nvSpPr>
        <p:spPr>
          <a:xfrm>
            <a:off x="6035040" y="85953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b="1" noProof="0" dirty="0">
                <a:solidFill>
                  <a:srgbClr val="1E8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de integración</a:t>
            </a:r>
            <a:endParaRPr lang="es-MX" sz="1300" noProof="0" dirty="0"/>
          </a:p>
        </p:txBody>
      </p:sp>
      <p:sp>
        <p:nvSpPr>
          <p:cNvPr id="28" name="Shape 26"/>
          <p:cNvSpPr/>
          <p:nvPr/>
        </p:nvSpPr>
        <p:spPr>
          <a:xfrm>
            <a:off x="5943600" y="1298448"/>
            <a:ext cx="2834640" cy="850392"/>
          </a:xfrm>
          <a:prstGeom prst="rect">
            <a:avLst/>
          </a:prstGeom>
          <a:solidFill>
            <a:srgbClr val="F4F8FA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9" name="Text 27"/>
          <p:cNvSpPr/>
          <p:nvPr/>
        </p:nvSpPr>
        <p:spPr>
          <a:xfrm>
            <a:off x="6053328" y="13533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Unificar </a:t>
            </a:r>
            <a:r>
              <a:rPr lang="es-MX" sz="1100" b="1" noProof="0" dirty="0" err="1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AMPs</a:t>
            </a:r>
            <a:endParaRPr lang="es-MX" sz="1100" noProof="0" dirty="0"/>
          </a:p>
        </p:txBody>
      </p:sp>
      <p:sp>
        <p:nvSpPr>
          <p:cNvPr id="30" name="Text 28"/>
          <p:cNvSpPr/>
          <p:nvPr/>
        </p:nvSpPr>
        <p:spPr>
          <a:xfrm>
            <a:off x="6053328" y="16459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la categoría del rescate para que coincida con la del </a:t>
            </a:r>
            <a:r>
              <a:rPr lang="es-MX" sz="105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secretoma</a:t>
            </a:r>
            <a:endParaRPr lang="es-MX" sz="1050" noProof="0" dirty="0"/>
          </a:p>
        </p:txBody>
      </p:sp>
      <p:sp>
        <p:nvSpPr>
          <p:cNvPr id="31" name="Shape 29"/>
          <p:cNvSpPr/>
          <p:nvPr/>
        </p:nvSpPr>
        <p:spPr>
          <a:xfrm>
            <a:off x="5943600" y="2194560"/>
            <a:ext cx="2834640" cy="850392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2" name="Text 30"/>
          <p:cNvSpPr/>
          <p:nvPr/>
        </p:nvSpPr>
        <p:spPr>
          <a:xfrm>
            <a:off x="6053328" y="224942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</a:t>
            </a:r>
            <a:r>
              <a:rPr lang="es-MX" sz="1100" b="1" noProof="0" dirty="0" err="1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bind_rows</a:t>
            </a:r>
            <a:r>
              <a:rPr lang="es-MX" sz="1100" b="1" noProof="0" dirty="0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s-MX" sz="1100" noProof="0" dirty="0"/>
          </a:p>
        </p:txBody>
      </p:sp>
      <p:sp>
        <p:nvSpPr>
          <p:cNvPr id="33" name="Text 31"/>
          <p:cNvSpPr/>
          <p:nvPr/>
        </p:nvSpPr>
        <p:spPr>
          <a:xfrm>
            <a:off x="6053328" y="254203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ambos data </a:t>
            </a:r>
            <a:r>
              <a:rPr lang="es-MX" sz="105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filas — la estructura debe ser idéntica</a:t>
            </a:r>
            <a:endParaRPr lang="es-MX" sz="1050" noProof="0" dirty="0"/>
          </a:p>
        </p:txBody>
      </p:sp>
      <p:sp>
        <p:nvSpPr>
          <p:cNvPr id="34" name="Shape 32"/>
          <p:cNvSpPr/>
          <p:nvPr/>
        </p:nvSpPr>
        <p:spPr>
          <a:xfrm>
            <a:off x="5943600" y="3090672"/>
            <a:ext cx="2834640" cy="850392"/>
          </a:xfrm>
          <a:prstGeom prst="rect">
            <a:avLst/>
          </a:prstGeom>
          <a:solidFill>
            <a:srgbClr val="F4F8FA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5" name="Text 33"/>
          <p:cNvSpPr/>
          <p:nvPr/>
        </p:nvSpPr>
        <p:spPr>
          <a:xfrm>
            <a:off x="6053328" y="314553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</a:t>
            </a:r>
            <a:r>
              <a:rPr lang="es-MX" sz="1100" b="1" noProof="0" dirty="0" err="1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s-MX" sz="1100" b="1" noProof="0" dirty="0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s-MX" sz="1100" noProof="0" dirty="0"/>
          </a:p>
        </p:txBody>
      </p:sp>
      <p:sp>
        <p:nvSpPr>
          <p:cNvPr id="36" name="Text 34"/>
          <p:cNvSpPr/>
          <p:nvPr/>
        </p:nvSpPr>
        <p:spPr>
          <a:xfrm>
            <a:off x="6053328" y="3438144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frecuencias por </a:t>
            </a:r>
            <a:r>
              <a:rPr lang="es-MX" sz="1050" noProof="0" dirty="0" err="1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venom_category</a:t>
            </a: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ordenada de mayor a menor</a:t>
            </a:r>
            <a:endParaRPr lang="es-MX" sz="1050" noProof="0" dirty="0"/>
          </a:p>
        </p:txBody>
      </p:sp>
      <p:sp>
        <p:nvSpPr>
          <p:cNvPr id="37" name="Shape 35"/>
          <p:cNvSpPr/>
          <p:nvPr/>
        </p:nvSpPr>
        <p:spPr>
          <a:xfrm>
            <a:off x="5943600" y="3986784"/>
            <a:ext cx="2834640" cy="850392"/>
          </a:xfrm>
          <a:prstGeom prst="rect">
            <a:avLst/>
          </a:prstGeom>
          <a:solidFill>
            <a:srgbClr val="EEF5F7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8" name="Text 36"/>
          <p:cNvSpPr/>
          <p:nvPr/>
        </p:nvSpPr>
        <p:spPr>
          <a:xfrm>
            <a:off x="6053328" y="40416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</a:t>
            </a:r>
            <a:r>
              <a:rPr lang="es-MX" sz="1100" b="1" noProof="0" dirty="0" err="1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group_walk</a:t>
            </a:r>
            <a:r>
              <a:rPr lang="es-MX" sz="1100" b="1" noProof="0" dirty="0">
                <a:solidFill>
                  <a:srgbClr val="13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s-MX" sz="1100" noProof="0" dirty="0"/>
          </a:p>
        </p:txBody>
      </p:sp>
      <p:sp>
        <p:nvSpPr>
          <p:cNvPr id="39" name="Text 37"/>
          <p:cNvSpPr/>
          <p:nvPr/>
        </p:nvSpPr>
        <p:spPr>
          <a:xfrm>
            <a:off x="6053328" y="433425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noProof="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un CSV por cada categoría de forma automática</a:t>
            </a:r>
            <a:endParaRPr lang="es-MX" sz="105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3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Discusión: Fortalezas, Limitaciones y Proteínas Novedosas</a:t>
            </a:r>
            <a:endParaRPr lang="es-MX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768096"/>
            <a:ext cx="4005072" cy="4224528"/>
          </a:xfrm>
          <a:prstGeom prst="rect">
            <a:avLst/>
          </a:prstGeom>
          <a:solidFill>
            <a:srgbClr val="F0FBF4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3B7C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Fortalezas del pipeline</a:t>
            </a:r>
            <a:endParaRPr lang="es-MX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335024"/>
            <a:ext cx="3685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</a:t>
            </a: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SignalP</a:t>
            </a: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TmHMM</a:t>
            </a: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biológicamente justificado</a:t>
            </a:r>
            <a:endParaRPr lang="es-MX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685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modulares: adaptables a otras especies</a:t>
            </a:r>
            <a:endParaRPr lang="es-MX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685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Rescate de </a:t>
            </a: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AMPs</a:t>
            </a: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recupera candidatos con secreción no clásica</a:t>
            </a:r>
            <a:endParaRPr lang="es-MX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3310128"/>
            <a:ext cx="3685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automática por categoría facilita análisis </a:t>
            </a:r>
            <a:endParaRPr lang="es-MX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502920" y="3968496"/>
            <a:ext cx="3685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reproducible y documentado con </a:t>
            </a: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tidyverse</a:t>
            </a:r>
            <a:endParaRPr lang="es-MX" sz="1250" noProof="0" dirty="0"/>
          </a:p>
        </p:txBody>
      </p:sp>
      <p:sp>
        <p:nvSpPr>
          <p:cNvPr id="11" name="Shape 9"/>
          <p:cNvSpPr/>
          <p:nvPr/>
        </p:nvSpPr>
        <p:spPr>
          <a:xfrm>
            <a:off x="4818888" y="768096"/>
            <a:ext cx="4005072" cy="4224528"/>
          </a:xfrm>
          <a:prstGeom prst="rect">
            <a:avLst/>
          </a:prstGeom>
          <a:solidFill>
            <a:srgbClr val="FFF5F0"/>
          </a:solidFill>
          <a:ln w="12700">
            <a:solidFill>
              <a:srgbClr val="C4D9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4956048" y="8778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A04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Limitaciones y proteínas novedosas</a:t>
            </a:r>
            <a:endParaRPr lang="es-MX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5001768" y="1335024"/>
            <a:ext cx="3685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dependen de la cobertura de </a:t>
            </a: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SwissProt</a:t>
            </a: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Pfam</a:t>
            </a:r>
            <a:endParaRPr lang="es-MX" sz="1250" noProof="0" dirty="0"/>
          </a:p>
        </p:txBody>
      </p:sp>
      <p:sp>
        <p:nvSpPr>
          <p:cNvPr id="14" name="Text 12"/>
          <p:cNvSpPr/>
          <p:nvPr/>
        </p:nvSpPr>
        <p:spPr>
          <a:xfrm>
            <a:off x="5001768" y="1993392"/>
            <a:ext cx="3685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Transcritos sin homólogos quedan como "sin clasificar"</a:t>
            </a:r>
            <a:endParaRPr lang="es-MX" sz="1250" noProof="0" dirty="0"/>
          </a:p>
        </p:txBody>
      </p:sp>
      <p:sp>
        <p:nvSpPr>
          <p:cNvPr id="15" name="Text 13"/>
          <p:cNvSpPr/>
          <p:nvPr/>
        </p:nvSpPr>
        <p:spPr>
          <a:xfrm>
            <a:off x="5001768" y="2651760"/>
            <a:ext cx="3685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 err="1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SignalP</a:t>
            </a: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5.0 puede generar falsos positivos en proteínas TM</a:t>
            </a:r>
            <a:endParaRPr lang="es-MX" sz="1250" noProof="0" dirty="0"/>
          </a:p>
        </p:txBody>
      </p:sp>
      <p:sp>
        <p:nvSpPr>
          <p:cNvPr id="16" name="Text 14"/>
          <p:cNvSpPr/>
          <p:nvPr/>
        </p:nvSpPr>
        <p:spPr>
          <a:xfrm>
            <a:off x="5001768" y="3310128"/>
            <a:ext cx="3685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novedosas: candidatos prioritarios para validación experimental</a:t>
            </a:r>
            <a:endParaRPr lang="es-MX" sz="1250" noProof="0" dirty="0"/>
          </a:p>
        </p:txBody>
      </p:sp>
      <p:sp>
        <p:nvSpPr>
          <p:cNvPr id="17" name="Text 15"/>
          <p:cNvSpPr/>
          <p:nvPr/>
        </p:nvSpPr>
        <p:spPr>
          <a:xfrm>
            <a:off x="5001768" y="3968496"/>
            <a:ext cx="3685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s-MX" sz="1250" noProof="0" dirty="0">
                <a:solidFill>
                  <a:srgbClr val="1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recomendada: LC-MS/MS </a:t>
            </a:r>
            <a:endParaRPr lang="es-MX" sz="125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347472" y="274320"/>
            <a:ext cx="8449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s-MX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347472" y="868680"/>
            <a:ext cx="3200400" cy="36576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/>
          <p:nvPr/>
        </p:nvSpPr>
        <p:spPr>
          <a:xfrm>
            <a:off x="347472" y="1024128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MX" sz="1450" noProof="0" dirty="0" err="1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tidyverse</a:t>
            </a:r>
            <a:r>
              <a:rPr lang="es-MX" sz="1450" noProof="0" dirty="0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ofrece una interfaz legible y reproducible para filtrar grandes reportes de anotación.</a:t>
            </a:r>
            <a:endParaRPr lang="es-MX" sz="1450" noProof="0" dirty="0"/>
          </a:p>
        </p:txBody>
      </p:sp>
      <p:sp>
        <p:nvSpPr>
          <p:cNvPr id="6" name="Text 4"/>
          <p:cNvSpPr/>
          <p:nvPr/>
        </p:nvSpPr>
        <p:spPr>
          <a:xfrm>
            <a:off x="347472" y="1728216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MX" sz="1450" noProof="0" dirty="0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</a:t>
            </a:r>
            <a:r>
              <a:rPr lang="es-MX" sz="1450" noProof="0" dirty="0" err="1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SignalP</a:t>
            </a:r>
            <a:r>
              <a:rPr lang="es-MX" sz="1450" noProof="0" dirty="0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s-MX" sz="1450" noProof="0" dirty="0" err="1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TmHMM</a:t>
            </a:r>
            <a:r>
              <a:rPr lang="es-MX" sz="1450" noProof="0" dirty="0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define un </a:t>
            </a:r>
            <a:r>
              <a:rPr lang="es-MX" sz="1450" noProof="0" dirty="0" err="1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secretoma</a:t>
            </a:r>
            <a:r>
              <a:rPr lang="es-MX" sz="1450" noProof="0" dirty="0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clásico biológicamente coherente como punto de partida.</a:t>
            </a:r>
            <a:endParaRPr lang="es-MX" sz="1450" noProof="0" dirty="0"/>
          </a:p>
        </p:txBody>
      </p:sp>
      <p:sp>
        <p:nvSpPr>
          <p:cNvPr id="7" name="Text 5"/>
          <p:cNvSpPr/>
          <p:nvPr/>
        </p:nvSpPr>
        <p:spPr>
          <a:xfrm>
            <a:off x="347472" y="24323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MX" sz="1450" noProof="0" dirty="0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lang="es-MX" sz="1450" noProof="0" dirty="0" err="1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r>
              <a:rPr lang="es-MX" sz="1450" noProof="0" dirty="0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modulares permiten clasificar toxinas con alta especificidad y bajo mantenimiento.</a:t>
            </a:r>
            <a:endParaRPr lang="es-MX" sz="1450" noProof="0" dirty="0"/>
          </a:p>
        </p:txBody>
      </p:sp>
      <p:sp>
        <p:nvSpPr>
          <p:cNvPr id="8" name="Text 6"/>
          <p:cNvSpPr/>
          <p:nvPr/>
        </p:nvSpPr>
        <p:spPr>
          <a:xfrm>
            <a:off x="347472" y="3136392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MX" sz="1450" noProof="0" dirty="0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rescate de </a:t>
            </a:r>
            <a:r>
              <a:rPr lang="es-MX" sz="1450" noProof="0" dirty="0" err="1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AMPs</a:t>
            </a:r>
            <a:r>
              <a:rPr lang="es-MX" sz="1450" noProof="0" dirty="0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clásicos amplía la cobertura del </a:t>
            </a:r>
            <a:r>
              <a:rPr lang="es-MX" sz="1450" noProof="0" dirty="0" err="1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venoma</a:t>
            </a:r>
            <a:r>
              <a:rPr lang="es-MX" sz="1450" noProof="0" dirty="0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contaminar el </a:t>
            </a:r>
            <a:r>
              <a:rPr lang="es-MX" sz="1450" noProof="0" dirty="0" err="1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secretoma</a:t>
            </a:r>
            <a:r>
              <a:rPr lang="es-MX" sz="1450" noProof="0" dirty="0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clásico.</a:t>
            </a:r>
            <a:endParaRPr lang="es-MX" sz="1450" noProof="0" dirty="0"/>
          </a:p>
        </p:txBody>
      </p:sp>
      <p:sp>
        <p:nvSpPr>
          <p:cNvPr id="9" name="Text 7"/>
          <p:cNvSpPr/>
          <p:nvPr/>
        </p:nvSpPr>
        <p:spPr>
          <a:xfrm>
            <a:off x="347472" y="3840480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MX" sz="1450" noProof="0" dirty="0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es adaptable a cualquier artrópodo venenoso con transcriptoma anotado por </a:t>
            </a:r>
            <a:r>
              <a:rPr lang="es-MX" sz="1450" noProof="0" dirty="0" err="1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Trinotate</a:t>
            </a:r>
            <a:r>
              <a:rPr lang="es-MX" sz="1450" noProof="0" dirty="0">
                <a:solidFill>
                  <a:srgbClr val="EE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MX" sz="1450" noProof="0" dirty="0"/>
          </a:p>
        </p:txBody>
      </p:sp>
      <p:sp>
        <p:nvSpPr>
          <p:cNvPr id="10" name="Text 8"/>
          <p:cNvSpPr/>
          <p:nvPr/>
        </p:nvSpPr>
        <p:spPr>
          <a:xfrm>
            <a:off x="347472" y="477316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00" noProof="0" dirty="0">
                <a:solidFill>
                  <a:srgbClr val="A8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disponible en GitHub · velher9997@gmail.com</a:t>
            </a:r>
            <a:endParaRPr lang="es-MX" sz="11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2C33257-07CB-3ABA-0E5F-EA8D73A3F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" y="0"/>
            <a:ext cx="91368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47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1713</Words>
  <Application>Microsoft Office PowerPoint</Application>
  <PresentationFormat>Presentación en pantalla (16:9)</PresentationFormat>
  <Paragraphs>289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José Daniel Velasco Hernández</cp:lastModifiedBy>
  <cp:revision>4</cp:revision>
  <dcterms:created xsi:type="dcterms:W3CDTF">2026-04-15T20:40:13Z</dcterms:created>
  <dcterms:modified xsi:type="dcterms:W3CDTF">2026-04-16T04:31:37Z</dcterms:modified>
</cp:coreProperties>
</file>